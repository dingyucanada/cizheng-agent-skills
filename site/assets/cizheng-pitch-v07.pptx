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096ed4624a41be" /><Relationship Type="http://schemas.openxmlformats.org/officeDocument/2006/relationships/extended-properties" Target="/docProps/app.xml" Id="R9bb56681acd740d9" /><Relationship Type="http://schemas.openxmlformats.org/officeDocument/2006/relationships/officeDocument" Target="/ppt/presentation.xml" Id="R45ee23ce9dbc47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b1cc6ca6594327"/>
  </p:sldMasterIdLst>
  <p:notesMasterIdLst>
    <p:notesMasterId xmlns:r="http://schemas.openxmlformats.org/officeDocument/2006/relationships" r:id="R7b72a3c2a0794339"/>
  </p:notesMasterIdLst>
  <p:sldIdLst>
    <p:sldId xmlns:r="http://schemas.openxmlformats.org/officeDocument/2006/relationships" id="256" r:id="Rfc7337456f894cd5"/>
    <p:sldId xmlns:r="http://schemas.openxmlformats.org/officeDocument/2006/relationships" id="257" r:id="R65b4d9a011e84682"/>
    <p:sldId xmlns:r="http://schemas.openxmlformats.org/officeDocument/2006/relationships" id="258" r:id="R95ba9859ef3e4802"/>
    <p:sldId xmlns:r="http://schemas.openxmlformats.org/officeDocument/2006/relationships" id="259" r:id="Rc83f463c51af4d6a"/>
    <p:sldId xmlns:r="http://schemas.openxmlformats.org/officeDocument/2006/relationships" id="260" r:id="Re4b50d99ad9746e6"/>
    <p:sldId xmlns:r="http://schemas.openxmlformats.org/officeDocument/2006/relationships" id="261" r:id="R01c851c2f7ea4e58"/>
    <p:sldId xmlns:r="http://schemas.openxmlformats.org/officeDocument/2006/relationships" id="262" r:id="R30180c3daf944c45"/>
    <p:sldId xmlns:r="http://schemas.openxmlformats.org/officeDocument/2006/relationships" id="263" r:id="Re6a16e9c14d442ad"/>
    <p:sldId xmlns:r="http://schemas.openxmlformats.org/officeDocument/2006/relationships" id="264" r:id="R90bccb111b4640ba"/>
    <p:sldId xmlns:r="http://schemas.openxmlformats.org/officeDocument/2006/relationships" id="265" r:id="R2ff823b058fd4f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875e292a054d23" /><Relationship Type="http://schemas.openxmlformats.org/officeDocument/2006/relationships/slideMaster" Target="/ppt/slideMasters/slideMaster1.xml" Id="Radb1cc6ca6594327" /><Relationship Type="http://schemas.openxmlformats.org/officeDocument/2006/relationships/notesMaster" Target="/ppt/notesMasters/notesMaster1.xml" Id="R7b72a3c2a0794339" /><Relationship Type="http://schemas.openxmlformats.org/officeDocument/2006/relationships/presProps" Target="/ppt/presProps.xml" Id="R0bb14e7760b645c6" /><Relationship Type="http://schemas.openxmlformats.org/officeDocument/2006/relationships/tableStyles" Target="/ppt/tableStyles.xml" Id="R94a5f05681154f88" /><Relationship Type="http://schemas.openxmlformats.org/officeDocument/2006/relationships/slide" Target="/ppt/slides/slide1.xml" Id="Rfc7337456f894cd5" /><Relationship Type="http://schemas.openxmlformats.org/officeDocument/2006/relationships/slide" Target="/ppt/slides/slide2.xml" Id="R65b4d9a011e84682" /><Relationship Type="http://schemas.openxmlformats.org/officeDocument/2006/relationships/slide" Target="/ppt/slides/slide3.xml" Id="R95ba9859ef3e4802" /><Relationship Type="http://schemas.openxmlformats.org/officeDocument/2006/relationships/slide" Target="/ppt/slides/slide4.xml" Id="Rc83f463c51af4d6a" /><Relationship Type="http://schemas.openxmlformats.org/officeDocument/2006/relationships/slide" Target="/ppt/slides/slide5.xml" Id="Re4b50d99ad9746e6" /><Relationship Type="http://schemas.openxmlformats.org/officeDocument/2006/relationships/slide" Target="/ppt/slides/slide6.xml" Id="R01c851c2f7ea4e58" /><Relationship Type="http://schemas.openxmlformats.org/officeDocument/2006/relationships/slide" Target="/ppt/slides/slide7.xml" Id="R30180c3daf944c45" /><Relationship Type="http://schemas.openxmlformats.org/officeDocument/2006/relationships/slide" Target="/ppt/slides/slide8.xml" Id="Re6a16e9c14d442ad" /><Relationship Type="http://schemas.openxmlformats.org/officeDocument/2006/relationships/slide" Target="/ppt/slides/slide9.xml" Id="R90bccb111b4640ba" /><Relationship Type="http://schemas.openxmlformats.org/officeDocument/2006/relationships/slide" Target="/ppt/slides/slide10.xml" Id="R2ff823b058fd4f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6686cafab742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9b3197a56642e9" /><Relationship Type="http://schemas.openxmlformats.org/officeDocument/2006/relationships/notesMaster" Target="/ppt/notesMasters/notesMaster1.xml" Id="R477dd638f4764e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c454a5a981405e" /><Relationship Type="http://schemas.openxmlformats.org/officeDocument/2006/relationships/notesMaster" Target="/ppt/notesMasters/notesMaster1.xml" Id="Rb061726bca8546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b721346cb7496d" /><Relationship Type="http://schemas.openxmlformats.org/officeDocument/2006/relationships/notesMaster" Target="/ppt/notesMasters/notesMaster1.xml" Id="R37492a26b6b543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da621428dd4b59" /><Relationship Type="http://schemas.openxmlformats.org/officeDocument/2006/relationships/notesMaster" Target="/ppt/notesMasters/notesMaster1.xml" Id="Rd8757a8bfeb149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7bd999f04a4797" /><Relationship Type="http://schemas.openxmlformats.org/officeDocument/2006/relationships/notesMaster" Target="/ppt/notesMasters/notesMaster1.xml" Id="Rced27faf44044e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1b7740148846ca" /><Relationship Type="http://schemas.openxmlformats.org/officeDocument/2006/relationships/notesMaster" Target="/ppt/notesMasters/notesMaster1.xml" Id="Rb6a060ca4e0b46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89dae2a5444826" /><Relationship Type="http://schemas.openxmlformats.org/officeDocument/2006/relationships/notesMaster" Target="/ppt/notesMasters/notesMaster1.xml" Id="R61b2583ea3ee4d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7c35b7c3714b00" /><Relationship Type="http://schemas.openxmlformats.org/officeDocument/2006/relationships/notesMaster" Target="/ppt/notesMasters/notesMaster1.xml" Id="Rcad2f63c0e1c49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ecc0a8fa944fd7" /><Relationship Type="http://schemas.openxmlformats.org/officeDocument/2006/relationships/notesMaster" Target="/ppt/notesMasters/notesMaster1.xml" Id="R07a290da7bf043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8bb7aaf4e94613" /><Relationship Type="http://schemas.openxmlformats.org/officeDocument/2006/relationships/notesMaster" Target="/ppt/notesMasters/notesMaster1.xml" Id="Raad53843764742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图像：The Metropolitan Museum of Art，馆藏18.61.4，object_id 48607，Public Domain / CC0。https://www.metmuseum.org/art/collection/search/48607 。原图权利与SHA清单见 site/data/sources.json。产品事实见 docs/product-and-architecture.md 与 STATUS.md。对象身份来自馆方记录，本项目未独立鉴定。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产品场景与实现范围：docs/product-and-architecture.md、docs/professional-research.md。场景来自公开规范研究，未声称已有客户或机构访谈。图像：Met馆藏79.2.1202a,b，object_id 51185，Public Domain / CC0。https://www.metmuseum.org/art/collection/search/51185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逻辑链路基于 docs/product-and-architecture.md、docs/controlled-workflow.md、docs/nvidia-integration.md。原图在上传本机与指定Spark处理；不称原图只存盒子内。NAT身份核查不判断语义正确性。StepFun只接视觉任务预览后批准的公开或脱敏文字，未传原图或图像URL；documentary_audit暂不支持。虚线为视觉修订回路。真实第12轮技术链路完成，两版各有一次实际正文与一条source_context，NAT references_verified，仍waiting_evidence；意见来源语义与理由质量未专业通过。记录 verification/nvidia/v07-workflows/round-12/workflow-summary.json、authenticity-audit.json及两版nat-audit.json。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包：skills/ceramic-route、ceramic-research-record、bluewhite-attribution-test、condition-hypothesis-test、provenance-evidence-audit、documentary-evidence-audit、evidence-revise。每包SKILL.md及skill-card.md声明实际边界。入口：https://github.com/dingyucanada/cizheng-agent-skills/tree/main/skills 。受控模式coordinator-observed-method-v2依本轮首批实际观察选方法，不能记成自然模型发现。既有视觉Schema现通过response_format传入，宿主核对归一化坐标；不补坐标或增图像重试。阶段工具Schema从本轮已保存run状态派生，模型自己填写理由与引用，原证据门禁、80/90秒生成与HTTP、单轮300秒/12模型/20工具预算保留。实际r15单8Bready；Python清单86/86一致，stage15 manifest 4cf1bbcc94b4f3725d9967c5a955fd3b0fb711d90216597596085d833545bfa5。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图像：Met object 48607另一面公开原图，源清单 site/data/sources.json 。观察/记载/意见分层来自 skills/ceramic-research-record/references/record-contract.md 和青花比较方法。https://www.metmuseum.org/art/collection/search/48607 。图中不加伪AI热点，不声称独立年代鉴定。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实际Chrome教学截图SHA21704b0dc0e8ce4abc2a7267ac087073613e0fcb19930a824d8ffc18e8ebce6a，本輪CUA取得原始字节。原生图片框裁切图像与示例观察区域，不模拟点击或连续录像，不表示实时模型完成。公开教学 site/demo.html、demo.js、data/demo-cases.json 的 ai_inference_performed=false、model_calls=0。三件Met馆藏为已知身份教学，非盲测或真实委托。163秒静音字幕教学片 site/assets/cizheng-demo-v07.mp4 保持原件；真实第12轮记录回放为独立文件。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模型决策 docs/model-selection.md。8B官方权重17545907304B，https://huggingface.co/Qwen/Qwen3-VL-8B-Instruct 。32B官方25份文件66726510714B，manifest dfff3dabb9b62e8fa186fd8a8cc2863c368593774e777f423ecd8e71288bdb9e；独立CUDA/BF16ready与合成热身2.44160588秒不证明专业质量。第07轮实际双图native80.273秒/主HTTP80.328608秒，269completion，region不合法被宿主拒收，未有assessment/NAT/StepFun，未采用。早期2B亦为真实失败候选，未作同条件领域排名。证据 verification/nvidia/v07-workflows/candidate-32b.json。第12轮StepFun真调用10.635108241秒，818prompt+1707completion=2525、cached256，原图未外传。Nsight第03轮摘要 verification/nvidia/v07-workflows/round-03/nsight-summary.json：Systems2025.3.2，cizheng.model-generate NVTX区间1次/19920507616ns，kernelinstances447028。范围仅首批双照片观察，不证明端到端提速、利用率或陶瓷质量。nsys report SHA f66fb4710713fc6cccc7ea14ae08eb66f07181b4a5ad9cfadabc8025d8845236。NVIDIA官方vLLM ARM64镜像仍未完成拉取；NIM因中国区官方分发限制未部署，TensorRT-LLM/Retriever服务未部署。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实际NAT注册、CLI、API身份合同与CPUprofiler：docs/nvidia-integration.md、verification/nvidia/nat-profiler-01/README.md；42events、9SPAN、9FUNCTION、0LLM，不是GPU性能。SkillSpector为7运行范围静态扫描，未获NVIDIA Verified。第12轮两版各1实际正文+1source_context，NAT身份通过但不判断主张支持。StepFun只接4类已批准文字，无原图/图像URL，10.635108241秒提出3疑点。修订3条unresolved，理由仍弱、专业质量未验；源 verification/nvidia/v07-workflows/round-12/authenticity-audit.json、text-review/executed.json、revision/final-run.json与nat-audit.json。JSON模式参考 https://platform.stepfun.com/docs/guide/json_mode ；文档不替代指定端点实测，r13实际微小合成探针4.881753秒/862tokens/schema有效非专业样本。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第12轮，verification/nvidia/v07-workflows/round-12/workflow-summary.json、authenticity-audit.json、initial/final-run.json、revision/final-run.json、两版nat-audit.json、两版exports-downloaded.json及text-review/executed.json。初稿133.965522秒6模型13工具；单次批准文字审查10.635108241秒2525tokens；修订142.182766秒8模型16工具。两版各1正文+1source_context，NAT references_verified，3种导出字节哈希保存，0合同validation_error；整体299.005838秒含两次推理、核查、审查与导出。最终waiting_evidence，critic全部3unresolved。初稿错把同件已知Met18.61.4资料称不适用本件，修订删句但period/style支持理由弱，不能称专业质量通过。实际照片SHA0cafb54b1f5edb156a96bd05a8c507bb500b76bb5f2a423778e306a27868febc，MetCC0。回放 https://dingyucanada.github.io/cizheng-agent-skills/assets/cizheng-ai-replay-v07.mp4 根据真实保存记录制作，非连续屏幕录制，非专家验收。第11轮失败片独立保留为 assets/cizheng-ai-replay-round11-v07.mp4。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至2026-09-29。第12轮真实技术流程complete，两版正文、背景引用身份核查与导出完成；waiting_evidence，3审查疑点unresolved，来源叙述和支持理由质量仍不足。不是盲测、陶瓷准确率或Skills增益。独立专家样本在另一台电脑未导入，未获专家验收、可信签署或获奖。真品概率待校准，采集覆盖只描述用户标注视角。多用户机构权限、生产审计和灾备未完成。r15 Spark应用913pass8skip1warning309.15秒，专项403pass6skip1warning143.49秒，原生测试147pass0skip1warning4.54秒；集合重叠且不是领域样本量。生产native保持r11单8B，86/86Python源清单一致。32B候选第07轮实际失败未采用；NVIDIA官方vLLM ARM64镜像尚未拉取完成，NIM/TRT-LLM/Retriever服务未部署。十篇章记录实际9/25–29开发阶段，不编造十天。docs/development-story.md、site/story.html。Met50839/61.200.30，PublicDomain/CC0：https://www.metmuseum.org/art/collection/search/50839 。公开发布结果由GitHub部署记录另核，不在PPT冒称已发布本版。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e491601eb43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1d493755f24208" /><Relationship Type="http://schemas.openxmlformats.org/officeDocument/2006/relationships/slideLayout" Target="/ppt/slideLayouts/slideLayout1.xml" Id="R2dc24976c19d4d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c24976c19d4d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c543b82284cac" /><Relationship Type="http://schemas.openxmlformats.org/officeDocument/2006/relationships/image" Target="/ppt/media/image.jpeg" Id="R220da72d14094634" /><Relationship Type="http://schemas.openxmlformats.org/officeDocument/2006/relationships/notesSlide" Target="/ppt/notesSlides/notesSlide1.xml" Id="Re1251aa8c91c45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3fb4d7d214925" /><Relationship Type="http://schemas.openxmlformats.org/officeDocument/2006/relationships/image" Target="/ppt/media/image2.jpeg" Id="R5c1ecb37c7c44135" /><Relationship Type="http://schemas.openxmlformats.org/officeDocument/2006/relationships/notesSlide" Target="/ppt/notesSlides/notesSlide2.xml" Id="Rae82ab0a7acb4c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ca9a4a9bd48d0" /><Relationship Type="http://schemas.openxmlformats.org/officeDocument/2006/relationships/notesSlide" Target="/ppt/notesSlides/notesSlide3.xml" Id="Rea745d4751ee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584096adc4f92" /><Relationship Type="http://schemas.openxmlformats.org/officeDocument/2006/relationships/notesSlide" Target="/ppt/notesSlides/notesSlide4.xml" Id="Rb76571956af344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2c13e7c7f4000" /><Relationship Type="http://schemas.openxmlformats.org/officeDocument/2006/relationships/image" Target="/ppt/media/image3.jpeg" Id="R0f020ede1b43498f" /><Relationship Type="http://schemas.openxmlformats.org/officeDocument/2006/relationships/notesSlide" Target="/ppt/notesSlides/notesSlide5.xml" Id="R0662b367e31e4d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b29df91b642aa" /><Relationship Type="http://schemas.openxmlformats.org/officeDocument/2006/relationships/image" Target="/ppt/media/image4.jpeg" Id="R58a1629a3cab47eb" /><Relationship Type="http://schemas.openxmlformats.org/officeDocument/2006/relationships/notesSlide" Target="/ppt/notesSlides/notesSlide6.xml" Id="R76bc1777c2b749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e1c1de07542ce" /><Relationship Type="http://schemas.openxmlformats.org/officeDocument/2006/relationships/notesSlide" Target="/ppt/notesSlides/notesSlide7.xml" Id="Rdf96d1396d6d4f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b38d725f9450e" /><Relationship Type="http://schemas.openxmlformats.org/officeDocument/2006/relationships/notesSlide" Target="/ppt/notesSlides/notesSlide8.xml" Id="Ra3a1469bf6f34f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1fe6851544efb" /><Relationship Type="http://schemas.openxmlformats.org/officeDocument/2006/relationships/image" Target="/ppt/media/image5.jpeg" Id="R3d51e4602eef47c1" /><Relationship Type="http://schemas.openxmlformats.org/officeDocument/2006/relationships/notesSlide" Target="/ppt/notesSlides/notesSlide9.xml" Id="R44db6fd8e1694c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8ed6aa9574311" /><Relationship Type="http://schemas.openxmlformats.org/officeDocument/2006/relationships/image" Target="/ppt/media/image6.jpeg" Id="Rbfc6de7ceba64c81" /><Relationship Type="http://schemas.openxmlformats.org/officeDocument/2006/relationships/notesSlide" Target="/ppt/notesSlides/notesSlide10.xml" Id="Rce3701ab6ca847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da72d14094634"/>
          <a:srcRect xmlns:a="http://schemas.openxmlformats.org/drawingml/2006/main" l="0" t="7143" r="0" b="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瓷证">
            <a:extLst xmlns:a="http://schemas.openxmlformats.org/drawingml/2006/main">
              <a:ext uri="{FF2B5EF4-FFF2-40B4-BE49-F238E27FC236}">
                <a16:creationId xmlns:a16="http://schemas.microsoft.com/office/drawing/2014/main" id="{909E1C46-B56A-4122-B741-A9C84DC0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66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瓷证</a:t>
            </a:r>
          </a:p>
        </p:txBody>
      </p:sp>
      <p:sp>
        <p:nvSpPr>
          <p:cNvPr id="3" name="陶瓷证据研究工作台">
            <a:extLst xmlns:a="http://schemas.openxmlformats.org/drawingml/2006/main">
              <a:ext uri="{FF2B5EF4-FFF2-40B4-BE49-F238E27FC236}">
                <a16:creationId xmlns:a16="http://schemas.microsoft.com/office/drawing/2014/main" id="{6AB9631F-E1D7-45AE-B73B-5B40F7EB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561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陶瓷证据研究工作台</a:t>
            </a:r>
          </a:p>
        </p:txBody>
      </p:sp>
      <p:sp>
        <p:nvSpPr>
          <p:cNvPr id="4" name="原照、资料与意见版本&#10;留在一份可交接的案卷里">
            <a:extLst xmlns:a="http://schemas.openxmlformats.org/drawingml/2006/main">
              <a:ext uri="{FF2B5EF4-FFF2-40B4-BE49-F238E27FC236}">
                <a16:creationId xmlns:a16="http://schemas.microsoft.com/office/drawing/2014/main" id="{61F77AEF-5C08-4D37-9F20-9291F8DD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rPr>
              <a:t>原照、资料与意见版本</a:t>
            </a:r>
          </a:p>
          <a:p xmlns:a="http://schemas.openxmlformats.org/drawingml/2006/main">
            <a:pPr algn="l">
              <a:defRPr sz="2175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rPr>
              <a:t>留在一份可交接的案卷里</a:t>
            </a:r>
          </a:p>
        </p:txBody>
      </p:sp>
      <p:sp>
        <p:nvSpPr>
          <p:cNvPr id="5" name="产品演示  v0.7  /  2026.09">
            <a:extLst xmlns:a="http://schemas.openxmlformats.org/drawingml/2006/main">
              <a:ext uri="{FF2B5EF4-FFF2-40B4-BE49-F238E27FC236}">
                <a16:creationId xmlns:a16="http://schemas.microsoft.com/office/drawing/2014/main" id="{DFC06E68-D4F5-45EF-AFB0-E216A047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FCAD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BFCAD3"/>
                </a:solidFill>
                <a:latin typeface="Hiragino Sans GB"/>
                <a:ea typeface="Hiragino Sans GB"/>
                <a:cs typeface="Hiragino Sans GB"/>
              </a:rPr>
              <a:t>产品演示  v0.7  /  2026.09</a:t>
            </a:r>
          </a:p>
        </p:txBody>
      </p:sp>
    </p:spTree>
    <p:extLst>
      <p:ext uri="{BB962C8B-B14F-4D97-AF65-F5344CB8AC3E}">
        <p14:creationId xmlns:p14="http://schemas.microsoft.com/office/powerpoint/2010/main" val="1221241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器物研究的三种工作场景">
            <a:extLst xmlns:a="http://schemas.openxmlformats.org/drawingml/2006/main">
              <a:ext uri="{FF2B5EF4-FFF2-40B4-BE49-F238E27FC236}">
                <a16:creationId xmlns:a16="http://schemas.microsoft.com/office/drawing/2014/main" id="{AD1CE205-3603-494A-8765-6F94061D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器物研究的三种工作场景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ecb37c7c44135"/>
          <a:stretch xmlns:a="http://schemas.openxmlformats.org/drawingml/2006/main"/>
        </p:blipFill>
        <p:spPr>
          <a:xfrm xmlns:a="http://schemas.openxmlformats.org/drawingml/2006/main">
            <a:off x="7334250" y="2336800"/>
            <a:ext cx="4048125" cy="2698750"/>
          </a:xfrm>
          <a:prstGeom xmlns:a="http://schemas.openxmlformats.org/drawingml/2006/main" prst="rect">
            <a:avLst/>
          </a:prstGeom>
        </p:spPr>
      </p:pic>
      <p:sp>
        <p:nvSpPr>
          <p:cNvPr id="3" name="博物馆编目">
            <a:extLst xmlns:a="http://schemas.openxmlformats.org/drawingml/2006/main">
              <a:ext uri="{FF2B5EF4-FFF2-40B4-BE49-F238E27FC236}">
                <a16:creationId xmlns:a16="http://schemas.microsoft.com/office/drawing/2014/main" id="{526EF197-1CD0-43A7-8C61-BD1BEDA2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95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博物馆编目</a:t>
            </a:r>
          </a:p>
        </p:txBody>
      </p:sp>
      <p:sp>
        <p:nvSpPr>
          <p:cNvPr id="4" name="保存登记、可见状况和资料定位，&#10;便于馆内继续核查。">
            <a:extLst xmlns:a="http://schemas.openxmlformats.org/drawingml/2006/main">
              <a:ext uri="{FF2B5EF4-FFF2-40B4-BE49-F238E27FC236}">
                <a16:creationId xmlns:a16="http://schemas.microsoft.com/office/drawing/2014/main" id="{8A535BCF-6376-4A96-968A-63D9DA19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628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保存登记、可见状况和资料定位，</a:t>
            </a:r>
          </a:p>
          <a:p xmlns:a="http://schemas.openxmlformats.org/drawingml/2006/main">
            <a:pPr algn="l">
              <a:def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便于馆内继续核查。</a:t>
            </a:r>
          </a:p>
        </p:txBody>
      </p:sp>
      <p:sp>
        <p:nvSpPr>
          <p:cNvPr id="5" name="收藏研究">
            <a:extLst xmlns:a="http://schemas.openxmlformats.org/drawingml/2006/main">
              <a:ext uri="{FF2B5EF4-FFF2-40B4-BE49-F238E27FC236}">
                <a16:creationId xmlns:a16="http://schemas.microsoft.com/office/drawing/2014/main" id="{5DBDB47C-6140-42EF-B1F9-650FA939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595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收藏研究</a:t>
            </a:r>
          </a:p>
        </p:txBody>
      </p:sp>
      <p:sp>
        <p:nvSpPr>
          <p:cNvPr id="6" name="区分持有人主张与支持材料，&#10;找出来源链中尚未核实的联系。">
            <a:extLst xmlns:a="http://schemas.openxmlformats.org/drawingml/2006/main">
              <a:ext uri="{FF2B5EF4-FFF2-40B4-BE49-F238E27FC236}">
                <a16:creationId xmlns:a16="http://schemas.microsoft.com/office/drawing/2014/main" id="{952CEBBA-B695-4DE9-ABDF-EFBB8949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95675"/>
            <a:ext cx="628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区分持有人主张与支持材料，</a:t>
            </a:r>
          </a:p>
          <a:p xmlns:a="http://schemas.openxmlformats.org/drawingml/2006/main">
            <a:pPr algn="l">
              <a:def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找出来源链中尚未核实的联系。</a:t>
            </a:r>
          </a:p>
        </p:txBody>
      </p:sp>
      <p:sp>
        <p:nvSpPr>
          <p:cNvPr id="7" name="拍卖图录准备">
            <a:extLst xmlns:a="http://schemas.openxmlformats.org/drawingml/2006/main">
              <a:ext uri="{FF2B5EF4-FFF2-40B4-BE49-F238E27FC236}">
                <a16:creationId xmlns:a16="http://schemas.microsoft.com/office/drawing/2014/main" id="{24801005-6EB5-4419-9DE7-A68CBA7C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595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拍卖图录准备</a:t>
            </a:r>
          </a:p>
        </p:txBody>
      </p:sp>
      <p:sp>
        <p:nvSpPr>
          <p:cNvPr id="8" name="把归属措辞与物理状况分开，&#10;留出上手检查与专业复核的位置。">
            <a:extLst xmlns:a="http://schemas.openxmlformats.org/drawingml/2006/main">
              <a:ext uri="{FF2B5EF4-FFF2-40B4-BE49-F238E27FC236}">
                <a16:creationId xmlns:a16="http://schemas.microsoft.com/office/drawing/2014/main" id="{2578ED3A-1446-4F43-B176-663B48F6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628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把归属措辞与物理状况分开，</a:t>
            </a:r>
          </a:p>
          <a:p xmlns:a="http://schemas.openxmlformats.org/drawingml/2006/main">
            <a:pPr algn="l">
              <a:def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留出上手检查与专业复核的位置。</a:t>
            </a:r>
          </a:p>
        </p:txBody>
      </p:sp>
      <p:sp>
        <p:nvSpPr>
          <p:cNvPr id="9" name="单人受控试用；角色入口不认证机构身份">
            <a:extLst xmlns:a="http://schemas.openxmlformats.org/drawingml/2006/main">
              <a:ext uri="{FF2B5EF4-FFF2-40B4-BE49-F238E27FC236}">
                <a16:creationId xmlns:a16="http://schemas.microsoft.com/office/drawing/2014/main" id="{704D46FC-151C-4E24-A00A-C657E1D2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293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单人受控试用；角色入口不认证机构身份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D099BF5D-6ECB-4501-9C17-3A6FB3BE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0210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/>
          <p:cNvCxnSpPr>
            <a:stCxn xmlns:a="http://schemas.openxmlformats.org/drawingml/2006/main" id="1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4791075" y="2743200"/>
            <a:ext cx="235267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5C83"/>
            </a:solidFill>
            <a:prstDash val="dash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27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7143750" y="4305300"/>
            <a:ext cx="2776538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5C83"/>
            </a:solidFill>
            <a:prstDash val="dash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162800" y="56959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8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752850" y="56959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8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2181225" y="2743200"/>
            <a:ext cx="2609850" cy="2476500"/>
          </a:xfrm>
          <a:prstGeom xmlns:a="http://schemas.openxmlformats.org/drawingml/2006/main" prst="bentConnector4">
            <a:avLst>
              <a:gd name="adj1" fmla="val 0"/>
              <a:gd name="adj2" fmla="val 9231"/>
            </a:avLst>
          </a:prstGeom>
          <a:ln xmlns:a="http://schemas.openxmlformats.org/drawingml/2006/main" w="19050">
            <a:solidFill>
              <a:srgbClr val="315C83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5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9691688" y="2743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83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2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4791075" y="2743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83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219825" y="2276475"/>
            <a:ext cx="1685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83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0350" y="2276475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83"/>
            </a:solidFill>
            <a:prstDash val="solid"/>
            <a:tailEnd type="triangle" w="sm" len="sm"/>
          </a:ln>
        </p:spPr>
      </p:cxnSp>
      <p:sp>
        <p:nvSpPr>
          <p:cNvPr id="49" name="端到端架构">
            <a:extLst xmlns:a="http://schemas.openxmlformats.org/drawingml/2006/main">
              <a:ext uri="{FF2B5EF4-FFF2-40B4-BE49-F238E27FC236}">
                <a16:creationId xmlns:a16="http://schemas.microsoft.com/office/drawing/2014/main" id="{2FFD10CE-E0AE-476B-90B1-3F737448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端到端架构</a:t>
            </a:r>
          </a:p>
        </p:txBody>
      </p:sp>
      <p:sp>
        <p:nvSpPr>
          <p:cNvPr id="2" name="原图在本机与指定Spark之间处理，外部只接批准文字">
            <a:extLst xmlns:a="http://schemas.openxmlformats.org/drawingml/2006/main">
              <a:ext uri="{FF2B5EF4-FFF2-40B4-BE49-F238E27FC236}">
                <a16:creationId xmlns:a16="http://schemas.microsoft.com/office/drawing/2014/main" id="{EF57F1AA-93C1-4CD6-BDAC-E46F7C14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原图在本机与指定Spark之间处理，外部只接批准文字</a:t>
            </a:r>
          </a:p>
        </p:txBody>
      </p:sp>
      <p:sp>
        <p:nvSpPr>
          <p:cNvPr id="3" name="研究者与浏览器">
            <a:extLst xmlns:a="http://schemas.openxmlformats.org/drawingml/2006/main">
              <a:ext uri="{FF2B5EF4-FFF2-40B4-BE49-F238E27FC236}">
                <a16:creationId xmlns:a16="http://schemas.microsoft.com/office/drawing/2014/main" id="{AB0C464F-157A-4173-95CA-86A52A7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4" name="研究者与浏览器">
            <a:extLst xmlns:a="http://schemas.openxmlformats.org/drawingml/2006/main">
              <a:ext uri="{FF2B5EF4-FFF2-40B4-BE49-F238E27FC236}">
                <a16:creationId xmlns:a16="http://schemas.microsoft.com/office/drawing/2014/main" id="{8919AEB5-5B34-45C9-BD1D-5C679372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研究者与浏览器</a:t>
            </a:r>
          </a:p>
        </p:txBody>
      </p:sp>
      <p:sp>
        <p:nvSpPr>
          <p:cNvPr id="5" name="登记、原图、附件">
            <a:extLst xmlns:a="http://schemas.openxmlformats.org/drawingml/2006/main">
              <a:ext uri="{FF2B5EF4-FFF2-40B4-BE49-F238E27FC236}">
                <a16:creationId xmlns:a16="http://schemas.microsoft.com/office/drawing/2014/main" id="{C3F70E12-69AB-48A8-9C80-9B9BB25F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1885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登记、原图、附件</a:t>
            </a:r>
          </a:p>
        </p:txBody>
      </p:sp>
      <p:sp>
        <p:nvSpPr>
          <p:cNvPr id="6" name="FastAPI / Harness">
            <a:extLst xmlns:a="http://schemas.openxmlformats.org/drawingml/2006/main">
              <a:ext uri="{FF2B5EF4-FFF2-40B4-BE49-F238E27FC236}">
                <a16:creationId xmlns:a16="http://schemas.microsoft.com/office/drawing/2014/main" id="{1B5DED40-625B-4CA4-9106-63C4C3C1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097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7" name="FastAPI / Harness">
            <a:extLst xmlns:a="http://schemas.openxmlformats.org/drawingml/2006/main">
              <a:ext uri="{FF2B5EF4-FFF2-40B4-BE49-F238E27FC236}">
                <a16:creationId xmlns:a16="http://schemas.microsoft.com/office/drawing/2014/main" id="{3265C923-2461-4E65-9A1B-5A39A5EC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240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FastAPI / Harness</a:t>
            </a:r>
          </a:p>
        </p:txBody>
      </p:sp>
      <p:sp>
        <p:nvSpPr>
          <p:cNvPr id="8" name="权限、工具、预算、版本">
            <a:extLst xmlns:a="http://schemas.openxmlformats.org/drawingml/2006/main">
              <a:ext uri="{FF2B5EF4-FFF2-40B4-BE49-F238E27FC236}">
                <a16:creationId xmlns:a16="http://schemas.microsoft.com/office/drawing/2014/main" id="{EE1446C3-29CA-4A41-AD6E-2AAC160E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76475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权限、工具、预算、版本</a:t>
            </a:r>
          </a:p>
        </p:txBody>
      </p:sp>
      <p:sp>
        <p:nvSpPr>
          <p:cNvPr id="9" name="Spark视觉模型">
            <a:extLst xmlns:a="http://schemas.openxmlformats.org/drawingml/2006/main">
              <a:ext uri="{FF2B5EF4-FFF2-40B4-BE49-F238E27FC236}">
                <a16:creationId xmlns:a16="http://schemas.microsoft.com/office/drawing/2014/main" id="{00C876AB-E2C1-4BFC-BA18-7FC6AA0C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571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10" name="Spark视觉模型">
            <a:extLst xmlns:a="http://schemas.openxmlformats.org/drawingml/2006/main">
              <a:ext uri="{FF2B5EF4-FFF2-40B4-BE49-F238E27FC236}">
                <a16:creationId xmlns:a16="http://schemas.microsoft.com/office/drawing/2014/main" id="{D057D8E2-B40D-4719-AC56-443F6ACA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3267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Spark视觉模型</a:t>
            </a:r>
          </a:p>
        </p:txBody>
      </p:sp>
      <p:sp>
        <p:nvSpPr>
          <p:cNvPr id="11" name="Qwen3-VL-8B / CUDA BF16">
            <a:extLst xmlns:a="http://schemas.openxmlformats.org/drawingml/2006/main">
              <a:ext uri="{FF2B5EF4-FFF2-40B4-BE49-F238E27FC236}">
                <a16:creationId xmlns:a16="http://schemas.microsoft.com/office/drawing/2014/main" id="{9BA03758-B988-4C18-9342-71ABE90F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76475"/>
            <a:ext cx="3267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Qwen3-VL-8B / CUDA BF16</a:t>
            </a:r>
          </a:p>
        </p:txBody>
      </p:sp>
      <p:sp>
        <p:nvSpPr>
          <p:cNvPr id="12" name="七个Skills方法包">
            <a:extLst xmlns:a="http://schemas.openxmlformats.org/drawingml/2006/main">
              <a:ext uri="{FF2B5EF4-FFF2-40B4-BE49-F238E27FC236}">
                <a16:creationId xmlns:a16="http://schemas.microsoft.com/office/drawing/2014/main" id="{B7C0FA39-4A34-4AFC-922D-32D51B0B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333750"/>
            <a:ext cx="2857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13" name="七个Skills方法包">
            <a:extLst xmlns:a="http://schemas.openxmlformats.org/drawingml/2006/main">
              <a:ext uri="{FF2B5EF4-FFF2-40B4-BE49-F238E27FC236}">
                <a16:creationId xmlns:a16="http://schemas.microsoft.com/office/drawing/2014/main" id="{B193B725-69C8-470F-8437-EB212BAF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480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七个Skills方法包</a:t>
            </a:r>
          </a:p>
        </p:txBody>
      </p:sp>
      <p:sp>
        <p:nvSpPr>
          <p:cNvPr id="14" name="渐进读取正文与资源">
            <a:extLst xmlns:a="http://schemas.openxmlformats.org/drawingml/2006/main">
              <a:ext uri="{FF2B5EF4-FFF2-40B4-BE49-F238E27FC236}">
                <a16:creationId xmlns:a16="http://schemas.microsoft.com/office/drawing/2014/main" id="{B1113931-8034-4354-AEC1-2B811DB7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800475"/>
            <a:ext cx="2552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渐进读取正文与资源</a:t>
            </a:r>
          </a:p>
        </p:txBody>
      </p:sp>
      <p:sp>
        <p:nvSpPr>
          <p:cNvPr id="15" name="本案固定证据">
            <a:extLst xmlns:a="http://schemas.openxmlformats.org/drawingml/2006/main">
              <a:ext uri="{FF2B5EF4-FFF2-40B4-BE49-F238E27FC236}">
                <a16:creationId xmlns:a16="http://schemas.microsoft.com/office/drawing/2014/main" id="{E6EE10B8-E864-47D5-9DC4-DB86D6BF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571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16" name="本案固定证据">
            <a:extLst xmlns:a="http://schemas.openxmlformats.org/drawingml/2006/main">
              <a:ext uri="{FF2B5EF4-FFF2-40B4-BE49-F238E27FC236}">
                <a16:creationId xmlns:a16="http://schemas.microsoft.com/office/drawing/2014/main" id="{4E33BEBE-B950-4E78-8B21-B73AD8A3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48050"/>
            <a:ext cx="3267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本案固定证据</a:t>
            </a:r>
          </a:p>
        </p:txBody>
      </p:sp>
      <p:sp>
        <p:nvSpPr>
          <p:cNvPr id="17" name="SQLite、原件、段落、读回执">
            <a:extLst xmlns:a="http://schemas.openxmlformats.org/drawingml/2006/main">
              <a:ext uri="{FF2B5EF4-FFF2-40B4-BE49-F238E27FC236}">
                <a16:creationId xmlns:a16="http://schemas.microsoft.com/office/drawing/2014/main" id="{B02D7534-DB82-4991-917F-38B02119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00475"/>
            <a:ext cx="3267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SQLite、原件、段落、读回执</a:t>
            </a:r>
          </a:p>
        </p:txBody>
      </p:sp>
      <p:sp>
        <p:nvSpPr>
          <p:cNvPr id="18" name="修订">
            <a:extLst xmlns:a="http://schemas.openxmlformats.org/drawingml/2006/main">
              <a:ext uri="{FF2B5EF4-FFF2-40B4-BE49-F238E27FC236}">
                <a16:creationId xmlns:a16="http://schemas.microsoft.com/office/drawing/2014/main" id="{2A0C4AB5-5D3D-40D0-959F-42815922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1257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19" name="修订">
            <a:extLst xmlns:a="http://schemas.openxmlformats.org/drawingml/2006/main">
              <a:ext uri="{FF2B5EF4-FFF2-40B4-BE49-F238E27FC236}">
                <a16:creationId xmlns:a16="http://schemas.microsoft.com/office/drawing/2014/main" id="{81F06728-746A-42DA-9A4A-9D8034B7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修订</a:t>
            </a:r>
          </a:p>
        </p:txBody>
      </p:sp>
      <p:sp>
        <p:nvSpPr>
          <p:cNvPr id="20" name="看原图">
            <a:extLst xmlns:a="http://schemas.openxmlformats.org/drawingml/2006/main">
              <a:ext uri="{FF2B5EF4-FFF2-40B4-BE49-F238E27FC236}">
                <a16:creationId xmlns:a16="http://schemas.microsoft.com/office/drawing/2014/main" id="{0F42E089-3CF0-4B63-85DD-1BDBB633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00475"/>
            <a:ext cx="95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看原图</a:t>
            </a:r>
          </a:p>
        </p:txBody>
      </p:sp>
      <p:sp>
        <p:nvSpPr>
          <p:cNvPr id="21" name="意见版本与交接">
            <a:extLst xmlns:a="http://schemas.openxmlformats.org/drawingml/2006/main">
              <a:ext uri="{FF2B5EF4-FFF2-40B4-BE49-F238E27FC236}">
                <a16:creationId xmlns:a16="http://schemas.microsoft.com/office/drawing/2014/main" id="{AAE86950-E0E9-43CF-B0A2-5BA41932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22" name="意见版本与交接">
            <a:extLst xmlns:a="http://schemas.openxmlformats.org/drawingml/2006/main">
              <a:ext uri="{FF2B5EF4-FFF2-40B4-BE49-F238E27FC236}">
                <a16:creationId xmlns:a16="http://schemas.microsoft.com/office/drawing/2014/main" id="{F3DF85D7-B692-43F6-B5A7-1BC1C1E0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意见版本与交接</a:t>
            </a:r>
          </a:p>
        </p:txBody>
      </p:sp>
      <p:sp>
        <p:nvSpPr>
          <p:cNvPr id="23" name="观察、引用、补证、人工复核">
            <a:extLst xmlns:a="http://schemas.openxmlformats.org/drawingml/2006/main">
              <a:ext uri="{FF2B5EF4-FFF2-40B4-BE49-F238E27FC236}">
                <a16:creationId xmlns:a16="http://schemas.microsoft.com/office/drawing/2014/main" id="{82ED5A6F-1D39-430F-B434-FE38C9BC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观察、引用、补证、人工复核</a:t>
            </a:r>
          </a:p>
        </p:txBody>
      </p:sp>
      <p:sp>
        <p:nvSpPr>
          <p:cNvPr id="24" name="NAT引用核查">
            <a:extLst xmlns:a="http://schemas.openxmlformats.org/drawingml/2006/main">
              <a:ext uri="{FF2B5EF4-FFF2-40B4-BE49-F238E27FC236}">
                <a16:creationId xmlns:a16="http://schemas.microsoft.com/office/drawing/2014/main" id="{9F715B06-2280-41DF-A5BB-B6165BA7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197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25" name="NAT引用核查">
            <a:extLst xmlns:a="http://schemas.openxmlformats.org/drawingml/2006/main">
              <a:ext uri="{FF2B5EF4-FFF2-40B4-BE49-F238E27FC236}">
                <a16:creationId xmlns:a16="http://schemas.microsoft.com/office/drawing/2014/main" id="{F0CDAAD9-190D-490A-874D-688AC91F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340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NAT引用核查</a:t>
            </a:r>
          </a:p>
        </p:txBody>
      </p:sp>
      <p:sp>
        <p:nvSpPr>
          <p:cNvPr id="26" name="NeMo Agent Toolkit">
            <a:extLst xmlns:a="http://schemas.openxmlformats.org/drawingml/2006/main">
              <a:ext uri="{FF2B5EF4-FFF2-40B4-BE49-F238E27FC236}">
                <a16:creationId xmlns:a16="http://schemas.microsoft.com/office/drawing/2014/main" id="{758D3533-D96C-43AB-8B4B-87E33079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8642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NeMo Agent Toolkit</a:t>
            </a:r>
          </a:p>
        </p:txBody>
      </p:sp>
      <p:sp>
        <p:nvSpPr>
          <p:cNvPr id="27" name="批准文字 / StepFun">
            <a:extLst xmlns:a="http://schemas.openxmlformats.org/drawingml/2006/main">
              <a:ext uri="{FF2B5EF4-FFF2-40B4-BE49-F238E27FC236}">
                <a16:creationId xmlns:a16="http://schemas.microsoft.com/office/drawing/2014/main" id="{957E28E4-097D-4E26-8947-11B49732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19700"/>
            <a:ext cx="3114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28" name="批准文字 / StepFun">
            <a:extLst xmlns:a="http://schemas.openxmlformats.org/drawingml/2006/main">
              <a:ext uri="{FF2B5EF4-FFF2-40B4-BE49-F238E27FC236}">
                <a16:creationId xmlns:a16="http://schemas.microsoft.com/office/drawing/2014/main" id="{6510A8C1-CA49-43C1-B06A-289C915A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34000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批准文字 / StepFun</a:t>
            </a:r>
          </a:p>
        </p:txBody>
      </p:sp>
      <p:sp>
        <p:nvSpPr>
          <p:cNvPr id="29" name="预览与单次批准，文字反证">
            <a:extLst xmlns:a="http://schemas.openxmlformats.org/drawingml/2006/main">
              <a:ext uri="{FF2B5EF4-FFF2-40B4-BE49-F238E27FC236}">
                <a16:creationId xmlns:a16="http://schemas.microsoft.com/office/drawing/2014/main" id="{D29DB051-075B-48EF-92F4-4A5E54C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86425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预览与单次批准，文字反证</a:t>
            </a:r>
          </a:p>
        </p:txBody>
      </p:sp>
      <p:sp>
        <p:nvSpPr>
          <p:cNvPr id="39" name="03">
            <a:extLst xmlns:a="http://schemas.openxmlformats.org/drawingml/2006/main">
              <a:ext uri="{FF2B5EF4-FFF2-40B4-BE49-F238E27FC236}">
                <a16:creationId xmlns:a16="http://schemas.microsoft.com/office/drawing/2014/main" id="{169481FD-8194-4897-A5F8-8C3B3F7F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4253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372600" y="2600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83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15175" y="2600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83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57750" y="2600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8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00325" y="2600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83"/>
            </a:solidFill>
            <a:prstDash val="solid"/>
            <a:tailEnd type="triangle" w="sm" len="sm"/>
          </a:ln>
        </p:spPr>
      </p:cxnSp>
      <p:sp>
        <p:nvSpPr>
          <p:cNvPr id="32" name="从结构化观察，到人工复核">
            <a:extLst xmlns:a="http://schemas.openxmlformats.org/drawingml/2006/main">
              <a:ext uri="{FF2B5EF4-FFF2-40B4-BE49-F238E27FC236}">
                <a16:creationId xmlns:a16="http://schemas.microsoft.com/office/drawing/2014/main" id="{5C20AAB4-405D-46E2-8AD5-24FDB356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从结构化观察，到人工复核</a:t>
            </a:r>
          </a:p>
        </p:txBody>
      </p:sp>
      <p:sp>
        <p:nvSpPr>
          <p:cNvPr id="2" name="每步留下本轮记录；缺失坐标与证据不能由程序补写">
            <a:extLst xmlns:a="http://schemas.openxmlformats.org/drawingml/2006/main">
              <a:ext uri="{FF2B5EF4-FFF2-40B4-BE49-F238E27FC236}">
                <a16:creationId xmlns:a16="http://schemas.microsoft.com/office/drawing/2014/main" id="{1816EF79-8BE3-447B-9F2E-3328F6BF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每步留下本轮记录；缺失坐标与证据不能由程序补写</a:t>
            </a:r>
          </a:p>
        </p:txBody>
      </p:sp>
      <p:sp>
        <p:nvSpPr>
          <p:cNvPr id="3" name="结构化观察">
            <a:extLst xmlns:a="http://schemas.openxmlformats.org/drawingml/2006/main">
              <a:ext uri="{FF2B5EF4-FFF2-40B4-BE49-F238E27FC236}">
                <a16:creationId xmlns:a16="http://schemas.microsoft.com/office/drawing/2014/main" id="{9609CF5F-A1BE-4A5C-B309-0228E7C0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952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4" name="结构化观察">
            <a:extLst xmlns:a="http://schemas.openxmlformats.org/drawingml/2006/main">
              <a:ext uri="{FF2B5EF4-FFF2-40B4-BE49-F238E27FC236}">
                <a16:creationId xmlns:a16="http://schemas.microsoft.com/office/drawing/2014/main" id="{2D2F22BB-503F-4732-B1FE-A9A83D52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结构化观察</a:t>
            </a:r>
          </a:p>
        </p:txBody>
      </p:sp>
      <p:sp>
        <p:nvSpPr>
          <p:cNvPr id="5" name="原Schema与坐标核验">
            <a:extLst xmlns:a="http://schemas.openxmlformats.org/drawingml/2006/main">
              <a:ext uri="{FF2B5EF4-FFF2-40B4-BE49-F238E27FC236}">
                <a16:creationId xmlns:a16="http://schemas.microsoft.com/office/drawing/2014/main" id="{B63D3583-FF9D-4B1F-9389-43A848E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647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原Schema与坐标核验</a:t>
            </a:r>
          </a:p>
        </p:txBody>
      </p:sp>
      <p:sp>
        <p:nvSpPr>
          <p:cNvPr id="6" name="实读资料">
            <a:extLst xmlns:a="http://schemas.openxmlformats.org/drawingml/2006/main">
              <a:ext uri="{FF2B5EF4-FFF2-40B4-BE49-F238E27FC236}">
                <a16:creationId xmlns:a16="http://schemas.microsoft.com/office/drawing/2014/main" id="{8653F2A1-8C8F-4C7A-92C0-805583B4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9775"/>
            <a:ext cx="1952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7" name="实读资料">
            <a:extLst xmlns:a="http://schemas.openxmlformats.org/drawingml/2006/main">
              <a:ext uri="{FF2B5EF4-FFF2-40B4-BE49-F238E27FC236}">
                <a16:creationId xmlns:a16="http://schemas.microsoft.com/office/drawing/2014/main" id="{D7015652-A28D-489D-9D62-8F243899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24075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实读资料</a:t>
            </a:r>
          </a:p>
        </p:txBody>
      </p:sp>
      <p:sp>
        <p:nvSpPr>
          <p:cNvPr id="8" name="固定版本与正文回执">
            <a:extLst xmlns:a="http://schemas.openxmlformats.org/drawingml/2006/main">
              <a:ext uri="{FF2B5EF4-FFF2-40B4-BE49-F238E27FC236}">
                <a16:creationId xmlns:a16="http://schemas.microsoft.com/office/drawing/2014/main" id="{F0807602-CA03-4D76-B7BC-18418F6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76500"/>
            <a:ext cx="1647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固定版本与正文回执</a:t>
            </a:r>
          </a:p>
        </p:txBody>
      </p:sp>
      <p:sp>
        <p:nvSpPr>
          <p:cNvPr id="9" name="生成引用">
            <a:extLst xmlns:a="http://schemas.openxmlformats.org/drawingml/2006/main">
              <a:ext uri="{FF2B5EF4-FFF2-40B4-BE49-F238E27FC236}">
                <a16:creationId xmlns:a16="http://schemas.microsoft.com/office/drawing/2014/main" id="{F1602EB2-6AB7-4AC3-AEA0-FA6FB6A7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9775"/>
            <a:ext cx="1952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10" name="生成引用">
            <a:extLst xmlns:a="http://schemas.openxmlformats.org/drawingml/2006/main">
              <a:ext uri="{FF2B5EF4-FFF2-40B4-BE49-F238E27FC236}">
                <a16:creationId xmlns:a16="http://schemas.microsoft.com/office/drawing/2014/main" id="{46FC2CB5-D8C8-429B-9B49-C7441F16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24075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生成引用</a:t>
            </a:r>
          </a:p>
        </p:txBody>
      </p:sp>
      <p:sp>
        <p:nvSpPr>
          <p:cNvPr id="11" name="绑定实际读过的段落">
            <a:extLst xmlns:a="http://schemas.openxmlformats.org/drawingml/2006/main">
              <a:ext uri="{FF2B5EF4-FFF2-40B4-BE49-F238E27FC236}">
                <a16:creationId xmlns:a16="http://schemas.microsoft.com/office/drawing/2014/main" id="{DC635AFD-F10C-4541-BEAE-FF27449D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76500"/>
            <a:ext cx="1647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绑定实际读过的段落</a:t>
            </a:r>
          </a:p>
        </p:txBody>
      </p:sp>
      <p:sp>
        <p:nvSpPr>
          <p:cNvPr id="12" name="文字反证">
            <a:extLst xmlns:a="http://schemas.openxmlformats.org/drawingml/2006/main">
              <a:ext uri="{FF2B5EF4-FFF2-40B4-BE49-F238E27FC236}">
                <a16:creationId xmlns:a16="http://schemas.microsoft.com/office/drawing/2014/main" id="{41C2757C-9734-43F3-8056-C99ACE2D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09775"/>
            <a:ext cx="1952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13" name="文字反证">
            <a:extLst xmlns:a="http://schemas.openxmlformats.org/drawingml/2006/main">
              <a:ext uri="{FF2B5EF4-FFF2-40B4-BE49-F238E27FC236}">
                <a16:creationId xmlns:a16="http://schemas.microsoft.com/office/drawing/2014/main" id="{372F5C6B-E8BD-4A90-8404-AD481B49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24075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文字反证</a:t>
            </a:r>
          </a:p>
        </p:txBody>
      </p:sp>
      <p:sp>
        <p:nvSpPr>
          <p:cNvPr id="14" name="仅单次批准文字">
            <a:extLst xmlns:a="http://schemas.openxmlformats.org/drawingml/2006/main">
              <a:ext uri="{FF2B5EF4-FFF2-40B4-BE49-F238E27FC236}">
                <a16:creationId xmlns:a16="http://schemas.microsoft.com/office/drawing/2014/main" id="{9CB590B9-06B4-4630-A6A0-49F856CE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1647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仅单次批准文字</a:t>
            </a:r>
          </a:p>
        </p:txBody>
      </p:sp>
      <p:sp>
        <p:nvSpPr>
          <p:cNvPr id="15" name="人工复核">
            <a:extLst xmlns:a="http://schemas.openxmlformats.org/drawingml/2006/main">
              <a:ext uri="{FF2B5EF4-FFF2-40B4-BE49-F238E27FC236}">
                <a16:creationId xmlns:a16="http://schemas.microsoft.com/office/drawing/2014/main" id="{6F9348F2-0E3C-46E8-8A1D-ACEDAC40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09775"/>
            <a:ext cx="1952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83"/>
            </a:solidFill>
          </a:ln>
        </p:spPr>
      </p:sp>
      <p:sp>
        <p:nvSpPr>
          <p:cNvPr id="16" name="人工复核">
            <a:extLst xmlns:a="http://schemas.openxmlformats.org/drawingml/2006/main">
              <a:ext uri="{FF2B5EF4-FFF2-40B4-BE49-F238E27FC236}">
                <a16:creationId xmlns:a16="http://schemas.microsoft.com/office/drawing/2014/main" id="{B6D8A2D9-66B9-46D7-8BA5-6737A068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24075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人工复核</a:t>
            </a:r>
          </a:p>
        </p:txBody>
      </p:sp>
      <p:sp>
        <p:nvSpPr>
          <p:cNvPr id="17" name="专家样本待导入">
            <a:extLst xmlns:a="http://schemas.openxmlformats.org/drawingml/2006/main">
              <a:ext uri="{FF2B5EF4-FFF2-40B4-BE49-F238E27FC236}">
                <a16:creationId xmlns:a16="http://schemas.microsoft.com/office/drawing/2014/main" id="{8D8B5D5D-6EBF-4231-8765-6E127846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76500"/>
            <a:ext cx="1647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专家样本待导入</a:t>
            </a:r>
          </a:p>
        </p:txBody>
      </p:sp>
      <p:sp>
        <p:nvSpPr>
          <p:cNvPr id="22" name="七个Skills提供研究方法">
            <a:extLst xmlns:a="http://schemas.openxmlformats.org/drawingml/2006/main">
              <a:ext uri="{FF2B5EF4-FFF2-40B4-BE49-F238E27FC236}">
                <a16:creationId xmlns:a16="http://schemas.microsoft.com/office/drawing/2014/main" id="{2F33ADC4-9D39-4C1B-935F-CA832018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七个Skills提供研究方法</a:t>
            </a:r>
          </a:p>
        </p:txBody>
      </p:sp>
      <p:sp>
        <p:nvSpPr>
          <p:cNvPr id="23" name="任务与补拍路由&#10;陶瓷编目研究&#10;青花比较研究">
            <a:extLst xmlns:a="http://schemas.openxmlformats.org/drawingml/2006/main">
              <a:ext uri="{FF2B5EF4-FFF2-40B4-BE49-F238E27FC236}">
                <a16:creationId xmlns:a16="http://schemas.microsoft.com/office/drawing/2014/main" id="{D8FBDA30-0D3A-499C-8BB9-ADB93F2A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3286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任务与补拍路由</a:t>
            </a:r>
          </a:p>
          <a:p xmlns:a="http://schemas.openxmlformats.org/drawingml/2006/main">
            <a:pPr algn="l">
              <a:def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陶瓷编目研究</a:t>
            </a:r>
          </a:p>
          <a:p xmlns:a="http://schemas.openxmlformats.org/drawingml/2006/main">
            <a:pPr algn="l">
              <a:def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青花比较研究</a:t>
            </a:r>
          </a:p>
        </p:txBody>
      </p:sp>
      <p:sp>
        <p:nvSpPr>
          <p:cNvPr id="24" name="状况假说核查&#10;来源经历核查">
            <a:extLst xmlns:a="http://schemas.openxmlformats.org/drawingml/2006/main">
              <a:ext uri="{FF2B5EF4-FFF2-40B4-BE49-F238E27FC236}">
                <a16:creationId xmlns:a16="http://schemas.microsoft.com/office/drawing/2014/main" id="{63B83B14-E738-4C47-89F3-D68EDE26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362450"/>
            <a:ext cx="3286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状况假说核查</a:t>
            </a:r>
          </a:p>
          <a:p xmlns:a="http://schemas.openxmlformats.org/drawingml/2006/main">
            <a:pPr algn="l">
              <a:def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来源经历核查</a:t>
            </a:r>
          </a:p>
        </p:txBody>
      </p:sp>
      <p:sp>
        <p:nvSpPr>
          <p:cNvPr id="25" name="文字凭据核查&#10;补证与版本修订">
            <a:extLst xmlns:a="http://schemas.openxmlformats.org/drawingml/2006/main">
              <a:ext uri="{FF2B5EF4-FFF2-40B4-BE49-F238E27FC236}">
                <a16:creationId xmlns:a16="http://schemas.microsoft.com/office/drawing/2014/main" id="{F047972B-CE49-4723-A048-FC4AF002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3286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文字凭据核查</a:t>
            </a:r>
          </a:p>
          <a:p xmlns:a="http://schemas.openxmlformats.org/drawingml/2006/main">
            <a:pPr algn="l">
              <a:def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补证与版本修订</a:t>
            </a:r>
          </a:p>
        </p:txBody>
      </p:sp>
      <p:sp>
        <p:nvSpPr>
          <p:cNvPr id="26" name="当前方法包均待专家审核；协调器自动加载另记执行者">
            <a:extLst xmlns:a="http://schemas.openxmlformats.org/drawingml/2006/main">
              <a:ext uri="{FF2B5EF4-FFF2-40B4-BE49-F238E27FC236}">
                <a16:creationId xmlns:a16="http://schemas.microsoft.com/office/drawing/2014/main" id="{5FFAEFF4-1698-4B66-94A2-EA603C1C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340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当前方法包均待专家审核；协调器自动加载另记执行者</a:t>
            </a:r>
          </a:p>
        </p:txBody>
      </p:sp>
      <p:sp>
        <p:nvSpPr>
          <p:cNvPr id="27" name="04">
            <a:extLst xmlns:a="http://schemas.openxmlformats.org/drawingml/2006/main">
              <a:ext uri="{FF2B5EF4-FFF2-40B4-BE49-F238E27FC236}">
                <a16:creationId xmlns:a16="http://schemas.microsoft.com/office/drawing/2014/main" id="{DB0D4E9B-0691-4BD4-BFD0-44D9C7F7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84602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一项判断必须回到它的依据">
            <a:extLst xmlns:a="http://schemas.openxmlformats.org/drawingml/2006/main">
              <a:ext uri="{FF2B5EF4-FFF2-40B4-BE49-F238E27FC236}">
                <a16:creationId xmlns:a16="http://schemas.microsoft.com/office/drawing/2014/main" id="{D867964B-7D6A-480E-8C4E-40EE6CD9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一项判断必须回到它的依据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20ede1b43498f"/>
          <a:stretch xmlns:a="http://schemas.openxmlformats.org/drawingml/2006/main"/>
        </p:blipFill>
        <p:spPr>
          <a:xfrm xmlns:a="http://schemas.openxmlformats.org/drawingml/2006/main">
            <a:off x="935038" y="1447800"/>
            <a:ext cx="3187700" cy="4781550"/>
          </a:xfrm>
          <a:prstGeom xmlns:a="http://schemas.openxmlformats.org/drawingml/2006/main" prst="rect">
            <a:avLst/>
          </a:prstGeom>
        </p:spPr>
      </p:pic>
      <p:sp>
        <p:nvSpPr>
          <p:cNvPr id="3" name="原图观察">
            <a:extLst xmlns:a="http://schemas.openxmlformats.org/drawingml/2006/main">
              <a:ext uri="{FF2B5EF4-FFF2-40B4-BE49-F238E27FC236}">
                <a16:creationId xmlns:a16="http://schemas.microsoft.com/office/drawing/2014/main" id="{578EB950-3A36-42D7-AE11-1B16C165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47825"/>
            <a:ext cx="638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原图观察</a:t>
            </a:r>
          </a:p>
        </p:txBody>
      </p:sp>
      <p:sp>
        <p:nvSpPr>
          <p:cNvPr id="4" name="描述当前看到的器形与纹饰。&#10;反光、视角和未拍部位另留限制。">
            <a:extLst xmlns:a="http://schemas.openxmlformats.org/drawingml/2006/main">
              <a:ext uri="{FF2B5EF4-FFF2-40B4-BE49-F238E27FC236}">
                <a16:creationId xmlns:a16="http://schemas.microsoft.com/office/drawing/2014/main" id="{0E8B7666-9BE3-4E65-BB4D-5F6CE58D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43125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描述当前看到的器形与纹饰。</a:t>
            </a:r>
          </a:p>
          <a:p xmlns:a="http://schemas.openxmlformats.org/drawingml/2006/main">
            <a:pPr algn="l">
              <a:defRPr sz="210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反光、视角和未拍部位另留限制。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2B1C8-66AB-460F-A021-3A36DF9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337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A"/>
          </a:solidFill>
          <a:ln xmlns:a="http://schemas.openxmlformats.org/drawingml/2006/main" w="0">
            <a:noFill/>
          </a:ln>
        </p:spPr>
      </p:sp>
      <p:sp>
        <p:nvSpPr>
          <p:cNvPr id="6" name="来源记载">
            <a:extLst xmlns:a="http://schemas.openxmlformats.org/drawingml/2006/main">
              <a:ext uri="{FF2B5EF4-FFF2-40B4-BE49-F238E27FC236}">
                <a16:creationId xmlns:a16="http://schemas.microsoft.com/office/drawing/2014/main" id="{D604EBD6-0A16-42B5-9CEB-A5A993C4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43275"/>
            <a:ext cx="638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来源记载</a:t>
            </a:r>
          </a:p>
        </p:txBody>
      </p:sp>
      <p:sp>
        <p:nvSpPr>
          <p:cNvPr id="7" name="馆藏标签属于对应编号对象。&#10;引用保存固定段落、版本与定位。">
            <a:extLst xmlns:a="http://schemas.openxmlformats.org/drawingml/2006/main">
              <a:ext uri="{FF2B5EF4-FFF2-40B4-BE49-F238E27FC236}">
                <a16:creationId xmlns:a16="http://schemas.microsoft.com/office/drawing/2014/main" id="{51CE0A34-F23E-44ED-BD5E-D8233299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38575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馆藏标签属于对应编号对象。</a:t>
            </a:r>
          </a:p>
          <a:p xmlns:a="http://schemas.openxmlformats.org/drawingml/2006/main">
            <a:pPr algn="l">
              <a:defRPr sz="210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引用保存固定段落、版本与定位。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6F02C-B8A8-4294-97F9-8E108B67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291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A"/>
          </a:solidFill>
          <a:ln xmlns:a="http://schemas.openxmlformats.org/drawingml/2006/main" w="0">
            <a:noFill/>
          </a:ln>
        </p:spPr>
      </p:sp>
      <p:sp>
        <p:nvSpPr>
          <p:cNvPr id="9" name="研究意见">
            <a:extLst xmlns:a="http://schemas.openxmlformats.org/drawingml/2006/main">
              <a:ext uri="{FF2B5EF4-FFF2-40B4-BE49-F238E27FC236}">
                <a16:creationId xmlns:a16="http://schemas.microsoft.com/office/drawing/2014/main" id="{95048218-1368-46F2-933F-64687CCD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38725"/>
            <a:ext cx="638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研究意见</a:t>
            </a:r>
          </a:p>
        </p:txBody>
      </p:sp>
      <p:sp>
        <p:nvSpPr>
          <p:cNvPr id="10" name="分别写支持、冲突和缺失，&#10;并请求最能区分解释的一项补证。">
            <a:extLst xmlns:a="http://schemas.openxmlformats.org/drawingml/2006/main">
              <a:ext uri="{FF2B5EF4-FFF2-40B4-BE49-F238E27FC236}">
                <a16:creationId xmlns:a16="http://schemas.microsoft.com/office/drawing/2014/main" id="{1F91F6F6-BF9C-4980-B86C-50531B64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534025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分别写支持、冲突和缺失，</a:t>
            </a:r>
          </a:p>
          <a:p xmlns:a="http://schemas.openxmlformats.org/drawingml/2006/main">
            <a:pPr algn="l">
              <a:defRPr sz="202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并请求最能区分解释的一项补证。</a:t>
            </a:r>
          </a:p>
        </p:txBody>
      </p:sp>
      <p:sp>
        <p:nvSpPr>
          <p:cNvPr id="11" name="05">
            <a:extLst xmlns:a="http://schemas.openxmlformats.org/drawingml/2006/main">
              <a:ext uri="{FF2B5EF4-FFF2-40B4-BE49-F238E27FC236}">
                <a16:creationId xmlns:a16="http://schemas.microsoft.com/office/drawing/2014/main" id="{CA73740B-05FA-42A7-82F2-A0174000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3120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图像研究与完整教学体验">
            <a:extLst xmlns:a="http://schemas.openxmlformats.org/drawingml/2006/main">
              <a:ext uri="{FF2B5EF4-FFF2-40B4-BE49-F238E27FC236}">
                <a16:creationId xmlns:a16="http://schemas.microsoft.com/office/drawing/2014/main" id="{F4B968B1-9C42-477E-8A7E-2A915D6E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图像研究与完整教学体验</a:t>
            </a:r>
          </a:p>
        </p:txBody>
      </p:sp>
      <p:sp>
        <p:nvSpPr>
          <p:cNvPr id="2" name="选案、看图、引用定位、补证比较、复核备注与导出">
            <a:extLst xmlns:a="http://schemas.openxmlformats.org/drawingml/2006/main">
              <a:ext uri="{FF2B5EF4-FFF2-40B4-BE49-F238E27FC236}">
                <a16:creationId xmlns:a16="http://schemas.microsoft.com/office/drawing/2014/main" id="{0BFA66C6-E421-4F08-B2F5-C6DA6161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选案、看图、引用定位、补证比较、复核备注与导出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1629a3cab47eb"/>
          <a:srcRect xmlns:a="http://schemas.openxmlformats.org/drawingml/2006/main" l="0" t="18260" r="0" b="182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38300"/>
            <a:ext cx="10925175" cy="4352925"/>
          </a:xfrm>
          <a:prstGeom xmlns:a="http://schemas.openxmlformats.org/drawingml/2006/main" prst="rect">
            <a:avLst/>
          </a:prstGeom>
        </p:spPr>
      </p:pic>
      <p:sp>
        <p:nvSpPr>
          <p:cNvPr id="4" name="本轮Chrome教学页实际截图（局部）；示例由项目编写，未调用模型">
            <a:extLst xmlns:a="http://schemas.openxmlformats.org/drawingml/2006/main">
              <a:ext uri="{FF2B5EF4-FFF2-40B4-BE49-F238E27FC236}">
                <a16:creationId xmlns:a16="http://schemas.microsoft.com/office/drawing/2014/main" id="{2015D11E-1898-4AB2-9515-9BEEA6ED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本轮Chrome教学页实际截图（局部）；示例由项目编写，未调用模型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052C5E71-AF5D-446F-99A1-DD5471D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2140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模型选择与真实测量">
            <a:extLst xmlns:a="http://schemas.openxmlformats.org/drawingml/2006/main">
              <a:ext uri="{FF2B5EF4-FFF2-40B4-BE49-F238E27FC236}">
                <a16:creationId xmlns:a16="http://schemas.microsoft.com/office/drawing/2014/main" id="{E39CFB24-5AE8-4CBF-AC0E-9D27D055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模型选择与真实测量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25175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33875"/>
                <a:gridCol w="4257675"/>
              </a:tblGrid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实际选择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当前结论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原图视觉研究</a:t>
                      </a:r>
                    </a:p>
                  </a:txBody>
                  <a:tcPr marL="91440" marR="91440" marT="45720" marB="45720">
                    <a:solidFill>
                      <a:srgbClr val="F7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Qwen3-VL-8B-Instruct</a:t>
                      </a:r>
                    </a:p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Spark / PyTorch CUDA BF16</a:t>
                      </a:r>
                    </a:p>
                  </a:txBody>
                  <a:tcPr marL="91440" marR="91440" marT="45720" marB="45720">
                    <a:solidFill>
                      <a:srgbClr val="F7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第12轮技术链路完成</a:t>
                      </a:r>
                    </a:p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专业质量仍待验</a:t>
                      </a:r>
                    </a:p>
                  </a:txBody>
                  <a:tcPr marL="91440" marR="91440" marT="45720" marB="45720">
                    <a:solidFill>
                      <a:srgbClr val="F7F7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较大模型候选</a:t>
                      </a:r>
                    </a:p>
                  </a:txBody>
                  <a:tcPr marL="91440" marR="91440" marT="45720" marB="45720">
                    <a:solidFill>
                      <a:srgbClr val="F7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Qwen3-VL-32B-Instruct</a:t>
                      </a:r>
                    </a:p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CUDA/BF16独立候选</a:t>
                      </a:r>
                    </a:p>
                  </a:txBody>
                  <a:tcPr marL="91440" marR="91440" marT="45720" marB="45720">
                    <a:solidFill>
                      <a:srgbClr val="F7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实际双图region校验失败</a:t>
                      </a:r>
                    </a:p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未采用；未作专业排名</a:t>
                      </a:r>
                    </a:p>
                  </a:txBody>
                  <a:tcPr marL="91440" marR="91440" marT="45720" marB="45720">
                    <a:solidFill>
                      <a:srgbClr val="F7F7F1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批准文字反证</a:t>
                      </a:r>
                    </a:p>
                  </a:txBody>
                  <a:tcPr marL="91440" marR="91440" marT="45720" marB="45720">
                    <a:solidFill>
                      <a:srgbClr val="F7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StepFun step-3.7-flash</a:t>
                      </a:r>
                    </a:p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仅批准公开或脱敏文字</a:t>
                      </a:r>
                    </a:p>
                  </a:txBody>
                  <a:tcPr marL="91440" marR="91440" marT="45720" marB="45720">
                    <a:solidFill>
                      <a:srgbClr val="F7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第12轮实际单次审查</a:t>
                      </a:r>
                    </a:p>
                    <a:p>
                      <a:r>
                        <a:rPr sz="1800" b="0">
                          <a:solidFill>
                            <a:srgbClr val="1C324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2,525 tokens / 10.635秒</a:t>
                      </a:r>
                    </a:p>
                  </a:txBody>
                  <a:tcPr marL="91440" marR="91440" marT="45720" marB="45720">
                    <a:solidFill>
                      <a:srgbClr val="F7F7F1"/>
                    </a:solidFill>
                  </a:tcPr>
                </a:tc>
              </a:tr>
            </a:tbl>
          </a:graphicData>
        </a:graphic>
      </p:graphicFrame>
      <p:sp>
        <p:nvSpPr>
          <p:cNvPr id="3" name="Nsight首批双图：19.92秒 / 1区间 / 447,028 CU">
            <a:extLst xmlns:a="http://schemas.openxmlformats.org/drawingml/2006/main">
              <a:ext uri="{FF2B5EF4-FFF2-40B4-BE49-F238E27FC236}">
                <a16:creationId xmlns:a16="http://schemas.microsoft.com/office/drawing/2014/main" id="{C71FD6AE-07E0-4295-B854-1D39FEE6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Nsight首批双图：19.92秒 / 1区间 / 447,028 CUDA kernel</a:t>
            </a:r>
          </a:p>
        </p:txBody>
      </p:sp>
      <p:sp>
        <p:nvSpPr>
          <p:cNvPr id="4" name="vLLM镜像拉取未完；NIM / TRT-LLM / Retriever">
            <a:extLst xmlns:a="http://schemas.openxmlformats.org/drawingml/2006/main">
              <a:ext uri="{FF2B5EF4-FFF2-40B4-BE49-F238E27FC236}">
                <a16:creationId xmlns:a16="http://schemas.microsoft.com/office/drawing/2014/main" id="{ABE0C1B1-80BB-419B-9CCD-4D5DEC02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vLLM镜像拉取未完；NIM / TRT-LLM / Retriever未部署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93BE4BFD-CA93-4958-B802-9968D56B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22767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工具核查与文字审查各自负责什么">
            <a:extLst xmlns:a="http://schemas.openxmlformats.org/drawingml/2006/main">
              <a:ext uri="{FF2B5EF4-FFF2-40B4-BE49-F238E27FC236}">
                <a16:creationId xmlns:a16="http://schemas.microsoft.com/office/drawing/2014/main" id="{256E98BF-9085-4A60-ADE1-F4BC6AB4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工具核查与文字审查各自负责什么</a:t>
            </a:r>
          </a:p>
        </p:txBody>
      </p:sp>
      <p:sp>
        <p:nvSpPr>
          <p:cNvPr id="2" name="NeMo Agent Toolkit">
            <a:extLst xmlns:a="http://schemas.openxmlformats.org/drawingml/2006/main">
              <a:ext uri="{FF2B5EF4-FFF2-40B4-BE49-F238E27FC236}">
                <a16:creationId xmlns:a16="http://schemas.microsoft.com/office/drawing/2014/main" id="{B489D759-618E-4A4B-891C-273DCD5B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NeMo Agent Toolkit</a:t>
            </a:r>
          </a:p>
        </p:txBody>
      </p:sp>
      <p:sp>
        <p:nvSpPr>
          <p:cNvPr id="3" name="核对引用的版本、哈希与实际阅读回执。&#10;不判断资料是否足以支持年代或真伪。">
            <a:extLst xmlns:a="http://schemas.openxmlformats.org/drawingml/2006/main">
              <a:ext uri="{FF2B5EF4-FFF2-40B4-BE49-F238E27FC236}">
                <a16:creationId xmlns:a16="http://schemas.microsoft.com/office/drawing/2014/main" id="{E4FF48D4-CAA9-44D3-B175-7AA8E1B1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rPr>
              <a:t>核对引用的版本、哈希与实际阅读回执。</a:t>
            </a:r>
          </a:p>
          <a:p xmlns:a="http://schemas.openxmlformats.org/drawingml/2006/main">
            <a:pPr algn="l">
              <a:defRPr sz="2250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rPr>
              <a:t>不判断资料是否足以支持年代或真伪。</a:t>
            </a:r>
          </a:p>
        </p:txBody>
      </p:sp>
      <p:sp>
        <p:nvSpPr>
          <p:cNvPr id="4" name="StepFun文字审查">
            <a:extLst xmlns:a="http://schemas.openxmlformats.org/drawingml/2006/main">
              <a:ext uri="{FF2B5EF4-FFF2-40B4-BE49-F238E27FC236}">
                <a16:creationId xmlns:a16="http://schemas.microsoft.com/office/drawing/2014/main" id="{5B8DFD81-5F4F-4478-9E2B-84B4FC39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StepFun文字审查</a:t>
            </a:r>
          </a:p>
        </p:txBody>
      </p:sp>
      <p:sp>
        <p:nvSpPr>
          <p:cNvPr id="5" name="只接收预览后批准的公开或脱敏文字。&#10;疑点须返回视觉研究，由主模型重看原图">
            <a:extLst xmlns:a="http://schemas.openxmlformats.org/drawingml/2006/main">
              <a:ext uri="{FF2B5EF4-FFF2-40B4-BE49-F238E27FC236}">
                <a16:creationId xmlns:a16="http://schemas.microsoft.com/office/drawing/2014/main" id="{FE88907C-C2B1-4B4F-B107-1AB1E726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rPr>
              <a:t>只接收预览后批准的公开或脱敏文字。</a:t>
            </a:r>
          </a:p>
          <a:p xmlns:a="http://schemas.openxmlformats.org/drawingml/2006/main">
            <a:pPr algn="l">
              <a:defRPr sz="2250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rPr>
              <a:t>疑点须返回视觉研究，由主模型重看原图回应。</a:t>
            </a:r>
          </a:p>
        </p:txBody>
      </p:sp>
      <p:sp>
        <p:nvSpPr>
          <p:cNvPr id="6" name="第12轮两版引用身份核查通过；三条疑点仍未解决，专业质量待验">
            <a:extLst xmlns:a="http://schemas.openxmlformats.org/drawingml/2006/main">
              <a:ext uri="{FF2B5EF4-FFF2-40B4-BE49-F238E27FC236}">
                <a16:creationId xmlns:a16="http://schemas.microsoft.com/office/drawing/2014/main" id="{AA423BB4-68A0-4500-A578-91186002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CAD5DE"/>
                </a:solidFill>
                <a:latin typeface="Hiragino Sans GB"/>
                <a:ea typeface="Hiragino Sans GB"/>
                <a:cs typeface="Hiragino Sans GB"/>
              </a:rPr>
              <a:t>第12轮两版引用身份核查通过；三条疑点仍未解决，专业质量待验</a:t>
            </a:r>
          </a:p>
        </p:txBody>
      </p:sp>
      <p:sp>
        <p:nvSpPr>
          <p:cNvPr id="7" name="08">
            <a:extLst xmlns:a="http://schemas.openxmlformats.org/drawingml/2006/main">
              <a:ext uri="{FF2B5EF4-FFF2-40B4-BE49-F238E27FC236}">
                <a16:creationId xmlns:a16="http://schemas.microsoft.com/office/drawing/2014/main" id="{AD20A70E-95A5-428D-B0A3-AD5C7644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FCAD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BFCAD3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2801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真实初稿、反证与视觉修订">
            <a:extLst xmlns:a="http://schemas.openxmlformats.org/drawingml/2006/main">
              <a:ext uri="{FF2B5EF4-FFF2-40B4-BE49-F238E27FC236}">
                <a16:creationId xmlns:a16="http://schemas.microsoft.com/office/drawing/2014/main" id="{76174109-8186-4E35-9D78-19E5641E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真实初稿、反证与视觉修订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1e4602eef47c1"/>
          <a:stretch xmlns:a="http://schemas.openxmlformats.org/drawingml/2006/main"/>
        </p:blipFill>
        <p:spPr>
          <a:xfrm xmlns:a="http://schemas.openxmlformats.org/drawingml/2006/main">
            <a:off x="1150938" y="1476375"/>
            <a:ext cx="2584450" cy="3876675"/>
          </a:xfrm>
          <a:prstGeom xmlns:a="http://schemas.openxmlformats.org/drawingml/2006/main" prst="rect">
            <a:avLst/>
          </a:prstGeom>
        </p:spPr>
      </p:pic>
      <p:sp>
        <p:nvSpPr>
          <p:cNvPr id="3" name="初稿  /  133.966秒">
            <a:extLst xmlns:a="http://schemas.openxmlformats.org/drawingml/2006/main">
              <a:ext uri="{FF2B5EF4-FFF2-40B4-BE49-F238E27FC236}">
                <a16:creationId xmlns:a16="http://schemas.microsoft.com/office/drawing/2014/main" id="{E1A9D7BB-27C1-43FB-B850-9286C9F4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383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初稿  /  133.966秒</a:t>
            </a:r>
          </a:p>
        </p:txBody>
      </p:sp>
      <p:sp>
        <p:nvSpPr>
          <p:cNvPr id="4" name="6次模型、13次工具；1正文与1背景引用。">
            <a:extLst xmlns:a="http://schemas.openxmlformats.org/drawingml/2006/main">
              <a:ext uri="{FF2B5EF4-FFF2-40B4-BE49-F238E27FC236}">
                <a16:creationId xmlns:a16="http://schemas.microsoft.com/office/drawing/2014/main" id="{8273137F-A1B3-4C16-976D-83A82EEF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145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6次模型、13次工具；1正文与1背景引用。</a:t>
            </a:r>
          </a:p>
        </p:txBody>
      </p:sp>
      <p:sp>
        <p:nvSpPr>
          <p:cNvPr id="5" name="文字反证  /  10.635秒">
            <a:extLst xmlns:a="http://schemas.openxmlformats.org/drawingml/2006/main">
              <a:ext uri="{FF2B5EF4-FFF2-40B4-BE49-F238E27FC236}">
                <a16:creationId xmlns:a16="http://schemas.microsoft.com/office/drawing/2014/main" id="{B5F9A3BA-8F9A-4FEF-90CC-B5C3DFB5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670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文字反证  /  10.635秒</a:t>
            </a:r>
          </a:p>
        </p:txBody>
      </p:sp>
      <p:sp>
        <p:nvSpPr>
          <p:cNvPr id="6" name="一次批准文字调用，提出三条不足。">
            <a:extLst xmlns:a="http://schemas.openxmlformats.org/drawingml/2006/main">
              <a:ext uri="{FF2B5EF4-FFF2-40B4-BE49-F238E27FC236}">
                <a16:creationId xmlns:a16="http://schemas.microsoft.com/office/drawing/2014/main" id="{8C5B519C-4F80-479E-87D4-F0379B07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432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一次批准文字调用，提出三条不足。</a:t>
            </a:r>
          </a:p>
        </p:txBody>
      </p:sp>
      <p:sp>
        <p:nvSpPr>
          <p:cNvPr id="7" name="视觉修订  /  142.183秒">
            <a:extLst xmlns:a="http://schemas.openxmlformats.org/drawingml/2006/main">
              <a:ext uri="{FF2B5EF4-FFF2-40B4-BE49-F238E27FC236}">
                <a16:creationId xmlns:a16="http://schemas.microsoft.com/office/drawing/2014/main" id="{517A3694-0522-4665-91E5-29C29D1E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957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视觉修订  /  142.183秒</a:t>
            </a:r>
          </a:p>
        </p:txBody>
      </p:sp>
      <p:sp>
        <p:nvSpPr>
          <p:cNvPr id="8" name="8次模型、16次工具；三条疑点仍未解决。">
            <a:extLst xmlns:a="http://schemas.openxmlformats.org/drawingml/2006/main">
              <a:ext uri="{FF2B5EF4-FFF2-40B4-BE49-F238E27FC236}">
                <a16:creationId xmlns:a16="http://schemas.microsoft.com/office/drawing/2014/main" id="{CD51D214-BD7D-421A-848E-C7BAE27D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7200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8次模型、16次工具；三条疑点仍未解决。</a:t>
            </a:r>
          </a:p>
        </p:txBody>
      </p:sp>
      <p:sp>
        <p:nvSpPr>
          <p:cNvPr id="9" name="两版NAT身份核查与三种导出完成；整体约299.006秒">
            <a:extLst xmlns:a="http://schemas.openxmlformats.org/drawingml/2006/main">
              <a:ext uri="{FF2B5EF4-FFF2-40B4-BE49-F238E27FC236}">
                <a16:creationId xmlns:a16="http://schemas.microsoft.com/office/drawing/2014/main" id="{981FACC2-90C4-402B-9D97-8152B95A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两版NAT身份核查与三种导出完成；整体约299.006秒</a:t>
            </a:r>
          </a:p>
        </p:txBody>
      </p:sp>
      <p:sp>
        <p:nvSpPr>
          <p:cNvPr id="10" name="公开已知馆藏，非盲测；运行仍等待补证，专业质量未验">
            <a:extLst xmlns:a="http://schemas.openxmlformats.org/drawingml/2006/main">
              <a:ext uri="{FF2B5EF4-FFF2-40B4-BE49-F238E27FC236}">
                <a16:creationId xmlns:a16="http://schemas.microsoft.com/office/drawing/2014/main" id="{3E8695A3-3EDB-4AEA-97DE-9D1AABD2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公开已知馆藏，非盲测；运行仍等待补证，专业质量未验</a:t>
            </a:r>
          </a:p>
        </p:txBody>
      </p:sp>
      <p:sp>
        <p:nvSpPr>
          <p:cNvPr id="11" name="80秒记录回放：dingyucanada.github.io/cizhe">
            <a:extLst xmlns:a="http://schemas.openxmlformats.org/drawingml/2006/main">
              <a:ext uri="{FF2B5EF4-FFF2-40B4-BE49-F238E27FC236}">
                <a16:creationId xmlns:a16="http://schemas.microsoft.com/office/drawing/2014/main" id="{903438E3-8F25-47A2-839D-6A2FD961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5C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315C83"/>
                </a:solidFill>
                <a:latin typeface="Hiragino Sans GB"/>
                <a:ea typeface="Hiragino Sans GB"/>
                <a:cs typeface="Hiragino Sans GB"/>
              </a:rPr>
              <a:t>80秒记录回放：dingyucanada.github.io/cizheng-agent-skills/assets/cizheng-ai-replay-v07.mp4</a:t>
            </a:r>
          </a:p>
        </p:txBody>
      </p:sp>
      <p:sp>
        <p:nvSpPr>
          <p:cNvPr id="12" name="09">
            <a:extLst xmlns:a="http://schemas.openxmlformats.org/drawingml/2006/main">
              <a:ext uri="{FF2B5EF4-FFF2-40B4-BE49-F238E27FC236}">
                <a16:creationId xmlns:a16="http://schemas.microsoft.com/office/drawing/2014/main" id="{E0B595DD-06DF-4F51-A539-4DF330C5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1057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一份能接着核查的案卷">
            <a:extLst xmlns:a="http://schemas.openxmlformats.org/drawingml/2006/main">
              <a:ext uri="{FF2B5EF4-FFF2-40B4-BE49-F238E27FC236}">
                <a16:creationId xmlns:a16="http://schemas.microsoft.com/office/drawing/2014/main" id="{A0974885-75C2-4D04-B04C-BCFABF3C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一份能接着核查的案卷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6de7ceba64c81"/>
          <a:stretch xmlns:a="http://schemas.openxmlformats.org/drawingml/2006/main"/>
        </p:blipFill>
        <p:spPr>
          <a:xfrm xmlns:a="http://schemas.openxmlformats.org/drawingml/2006/main">
            <a:off x="7762875" y="2338507"/>
            <a:ext cx="3524250" cy="2704862"/>
          </a:xfrm>
          <a:prstGeom xmlns:a="http://schemas.openxmlformats.org/drawingml/2006/main" prst="rect">
            <a:avLst/>
          </a:prstGeom>
        </p:spPr>
      </p:pic>
      <p:sp>
        <p:nvSpPr>
          <p:cNvPr id="3" name="当前可以做">
            <a:extLst xmlns:a="http://schemas.openxmlformats.org/drawingml/2006/main">
              <a:ext uri="{FF2B5EF4-FFF2-40B4-BE49-F238E27FC236}">
                <a16:creationId xmlns:a16="http://schemas.microsoft.com/office/drawing/2014/main" id="{807C0B62-A477-4155-B4BF-4EAE8A5D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当前可以做</a:t>
            </a:r>
          </a:p>
        </p:txBody>
      </p:sp>
      <p:sp>
        <p:nvSpPr>
          <p:cNvPr id="4" name="整理原照与来源，比较补证版本。&#10;第12轮技术链路完成，意见质量待验。">
            <a:extLst xmlns:a="http://schemas.openxmlformats.org/drawingml/2006/main">
              <a:ext uri="{FF2B5EF4-FFF2-40B4-BE49-F238E27FC236}">
                <a16:creationId xmlns:a16="http://schemas.microsoft.com/office/drawing/2014/main" id="{1111A77A-F08A-4D28-8AE3-E06041F1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整理原照与来源，比较补证版本。</a:t>
            </a:r>
          </a:p>
          <a:p xmlns:a="http://schemas.openxmlformats.org/drawingml/2006/main">
            <a:pPr algn="l">
              <a:defRPr sz="21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第12轮技术链路完成，意见质量待验。</a:t>
            </a:r>
          </a:p>
        </p:txBody>
      </p:sp>
      <p:sp>
        <p:nvSpPr>
          <p:cNvPr id="5" name="下一次验收">
            <a:extLst xmlns:a="http://schemas.openxmlformats.org/drawingml/2006/main">
              <a:ext uri="{FF2B5EF4-FFF2-40B4-BE49-F238E27FC236}">
                <a16:creationId xmlns:a16="http://schemas.microsoft.com/office/drawing/2014/main" id="{82D58E71-6E8A-4CB2-93F6-37AEF00F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B43"/>
                </a:solidFill>
                <a:latin typeface="Hiragino Sans GB"/>
                <a:ea typeface="Hiragino Sans GB"/>
                <a:cs typeface="Hiragino Sans GB"/>
              </a:rPr>
              <a:t>下一次验收</a:t>
            </a:r>
          </a:p>
        </p:txBody>
      </p:sp>
      <p:sp>
        <p:nvSpPr>
          <p:cNvPr id="6" name="核查来源语义与主张的证据关系，&#10;导入专家样本，实测Skills对照。">
            <a:extLst xmlns:a="http://schemas.openxmlformats.org/drawingml/2006/main">
              <a:ext uri="{FF2B5EF4-FFF2-40B4-BE49-F238E27FC236}">
                <a16:creationId xmlns:a16="http://schemas.microsoft.com/office/drawing/2014/main" id="{DDA61109-2354-449E-91BF-668D344D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1025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核查来源语义与主张的证据关系，</a:t>
            </a:r>
          </a:p>
          <a:p xmlns:a="http://schemas.openxmlformats.org/drawingml/2006/main">
            <a:pPr algn="l">
              <a:defRPr sz="21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C3248"/>
                </a:solidFill>
                <a:latin typeface="Hiragino Sans GB"/>
                <a:ea typeface="Hiragino Sans GB"/>
                <a:cs typeface="Hiragino Sans GB"/>
              </a:rPr>
              <a:t>导入专家样本，实测Skills对照。</a:t>
            </a:r>
          </a:p>
        </p:txBody>
      </p:sp>
      <p:sp>
        <p:nvSpPr>
          <p:cNvPr id="7" name="开发纪实：瓷证十日谈">
            <a:extLst xmlns:a="http://schemas.openxmlformats.org/drawingml/2006/main">
              <a:ext uri="{FF2B5EF4-FFF2-40B4-BE49-F238E27FC236}">
                <a16:creationId xmlns:a16="http://schemas.microsoft.com/office/drawing/2014/main" id="{B8ED0817-0AD0-46ED-BF9F-CC45B2F6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C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15C83"/>
                </a:solidFill>
                <a:latin typeface="Hiragino Sans GB"/>
                <a:ea typeface="Hiragino Sans GB"/>
                <a:cs typeface="Hiragino Sans GB"/>
              </a:rPr>
              <a:t>开发纪实：瓷证十日谈</a:t>
            </a:r>
          </a:p>
        </p:txBody>
      </p:sp>
      <p:sp>
        <p:nvSpPr>
          <p:cNvPr id="8" name="dingyucanada.github.io/cizheng-agent">
            <a:extLst xmlns:a="http://schemas.openxmlformats.org/drawingml/2006/main">
              <a:ext uri="{FF2B5EF4-FFF2-40B4-BE49-F238E27FC236}">
                <a16:creationId xmlns:a16="http://schemas.microsoft.com/office/drawing/2014/main" id="{80FF2D21-C001-4E94-A157-D78FE641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dingyucanada.github.io/cizheng-agent-skills/</a:t>
            </a:r>
          </a:p>
        </p:txBody>
      </p:sp>
      <p:sp>
        <p:nvSpPr>
          <p:cNvPr id="9" name="10">
            <a:extLst xmlns:a="http://schemas.openxmlformats.org/drawingml/2006/main">
              <a:ext uri="{FF2B5EF4-FFF2-40B4-BE49-F238E27FC236}">
                <a16:creationId xmlns:a16="http://schemas.microsoft.com/office/drawing/2014/main" id="{A3D47E47-4EC3-425B-AED6-39308A3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684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3403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2026-09-28T17:28:48.8750000Z</dcterms:created>
  <dcterms:modified xsi:type="dcterms:W3CDTF">2026-09-28T17:28:48.8750000Z</dcterms:modified>
</coreProperties>
</file>