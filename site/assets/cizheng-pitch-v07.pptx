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f44506bdae749c3" /><Relationship Type="http://schemas.openxmlformats.org/officeDocument/2006/relationships/extended-properties" Target="/docProps/app.xml" Id="R49c08b7d134343e8" /><Relationship Type="http://schemas.openxmlformats.org/officeDocument/2006/relationships/officeDocument" Target="/ppt/presentation.xml" Id="R05d65eadac5b42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dfe95fc8db4ff0"/>
  </p:sldMasterIdLst>
  <p:notesMasterIdLst>
    <p:notesMasterId xmlns:r="http://schemas.openxmlformats.org/officeDocument/2006/relationships" r:id="R055b056c024a4636"/>
  </p:notesMasterIdLst>
  <p:sldIdLst>
    <p:sldId xmlns:r="http://schemas.openxmlformats.org/officeDocument/2006/relationships" id="256" r:id="R75d79d3c8a9f4f28"/>
    <p:sldId xmlns:r="http://schemas.openxmlformats.org/officeDocument/2006/relationships" id="257" r:id="R6b3fa2ddfcb143c0"/>
    <p:sldId xmlns:r="http://schemas.openxmlformats.org/officeDocument/2006/relationships" id="258" r:id="Rd9a3f864fd1d465f"/>
    <p:sldId xmlns:r="http://schemas.openxmlformats.org/officeDocument/2006/relationships" id="259" r:id="R6c9fdd8dc3fc4a81"/>
    <p:sldId xmlns:r="http://schemas.openxmlformats.org/officeDocument/2006/relationships" id="260" r:id="R13e6f437d3124398"/>
    <p:sldId xmlns:r="http://schemas.openxmlformats.org/officeDocument/2006/relationships" id="261" r:id="Rc86909a09c3d42f3"/>
    <p:sldId xmlns:r="http://schemas.openxmlformats.org/officeDocument/2006/relationships" id="262" r:id="R3c5d28fee63a49a3"/>
    <p:sldId xmlns:r="http://schemas.openxmlformats.org/officeDocument/2006/relationships" id="263" r:id="Rbe3f85d4b2a14a6c"/>
    <p:sldId xmlns:r="http://schemas.openxmlformats.org/officeDocument/2006/relationships" id="264" r:id="Rdaba111ac2f44537"/>
    <p:sldId xmlns:r="http://schemas.openxmlformats.org/officeDocument/2006/relationships" id="265" r:id="Rf28c35dcb0e24b0f"/>
    <p:sldId xmlns:r="http://schemas.openxmlformats.org/officeDocument/2006/relationships" id="266" r:id="Rb32c7e64c79d4ef7"/>
    <p:sldId xmlns:r="http://schemas.openxmlformats.org/officeDocument/2006/relationships" id="267" r:id="R8d643b35f7ce4737"/>
    <p:sldId xmlns:r="http://schemas.openxmlformats.org/officeDocument/2006/relationships" id="268" r:id="R1a51f52cc4eb440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d8cf698d774e8c" /><Relationship Type="http://schemas.openxmlformats.org/officeDocument/2006/relationships/slideMaster" Target="/ppt/slideMasters/slideMaster1.xml" Id="Rb1dfe95fc8db4ff0" /><Relationship Type="http://schemas.openxmlformats.org/officeDocument/2006/relationships/notesMaster" Target="/ppt/notesMasters/notesMaster1.xml" Id="R055b056c024a4636" /><Relationship Type="http://schemas.openxmlformats.org/officeDocument/2006/relationships/presProps" Target="/ppt/presProps.xml" Id="R0473a12e8687450e" /><Relationship Type="http://schemas.openxmlformats.org/officeDocument/2006/relationships/tableStyles" Target="/ppt/tableStyles.xml" Id="R386a57f927e94023" /><Relationship Type="http://schemas.openxmlformats.org/officeDocument/2006/relationships/slide" Target="/ppt/slides/slide1.xml" Id="R75d79d3c8a9f4f28" /><Relationship Type="http://schemas.openxmlformats.org/officeDocument/2006/relationships/slide" Target="/ppt/slides/slide2.xml" Id="R6b3fa2ddfcb143c0" /><Relationship Type="http://schemas.openxmlformats.org/officeDocument/2006/relationships/slide" Target="/ppt/slides/slide3.xml" Id="Rd9a3f864fd1d465f" /><Relationship Type="http://schemas.openxmlformats.org/officeDocument/2006/relationships/slide" Target="/ppt/slides/slide4.xml" Id="R6c9fdd8dc3fc4a81" /><Relationship Type="http://schemas.openxmlformats.org/officeDocument/2006/relationships/slide" Target="/ppt/slides/slide5.xml" Id="R13e6f437d3124398" /><Relationship Type="http://schemas.openxmlformats.org/officeDocument/2006/relationships/slide" Target="/ppt/slides/slide6.xml" Id="Rc86909a09c3d42f3" /><Relationship Type="http://schemas.openxmlformats.org/officeDocument/2006/relationships/slide" Target="/ppt/slides/slide7.xml" Id="R3c5d28fee63a49a3" /><Relationship Type="http://schemas.openxmlformats.org/officeDocument/2006/relationships/slide" Target="/ppt/slides/slide8.xml" Id="Rbe3f85d4b2a14a6c" /><Relationship Type="http://schemas.openxmlformats.org/officeDocument/2006/relationships/slide" Target="/ppt/slides/slide9.xml" Id="Rdaba111ac2f44537" /><Relationship Type="http://schemas.openxmlformats.org/officeDocument/2006/relationships/slide" Target="/ppt/slides/slide10.xml" Id="Rf28c35dcb0e24b0f" /><Relationship Type="http://schemas.openxmlformats.org/officeDocument/2006/relationships/slide" Target="/ppt/slides/slide11.xml" Id="Rb32c7e64c79d4ef7" /><Relationship Type="http://schemas.openxmlformats.org/officeDocument/2006/relationships/slide" Target="/ppt/slides/slide12.xml" Id="R8d643b35f7ce4737" /><Relationship Type="http://schemas.openxmlformats.org/officeDocument/2006/relationships/slide" Target="/ppt/slides/slide13.xml" Id="R1a51f52cc4eb440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67b5f5366040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瓷证">
      <a:dk1>
        <a:srgbClr val="000000"/>
      </a:dk1>
      <a:lt1>
        <a:srgbClr val="FFFFFF"/>
      </a:lt1>
      <a:dk2>
        <a:srgbClr val="132D49"/>
      </a:dk2>
      <a:lt2>
        <a:srgbClr val="EEF4F8"/>
      </a:lt2>
      <a:accent1>
        <a:srgbClr val="245B88"/>
      </a:accent1>
      <a:accent2>
        <a:srgbClr val="132D49"/>
      </a:accent2>
      <a:accent3>
        <a:srgbClr val="AE8B4A"/>
      </a:accent3>
      <a:accent4>
        <a:srgbClr val="5E7181"/>
      </a:accent4>
      <a:accent5>
        <a:srgbClr val="C7D5E0"/>
      </a:accent5>
      <a:accent6>
        <a:srgbClr val="C7D6E2"/>
      </a:accent6>
      <a:hlink>
        <a:srgbClr val="C7D6E2"/>
      </a:hlink>
      <a:folHlink>
        <a:srgbClr val="C7D6E2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瓷证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bad4ce5009348de" /><Relationship Type="http://schemas.openxmlformats.org/officeDocument/2006/relationships/notesMaster" Target="/ppt/notesMasters/notesMaster1.xml" Id="R738f15dd5b0540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4377c1872e4d4a" /><Relationship Type="http://schemas.openxmlformats.org/officeDocument/2006/relationships/notesMaster" Target="/ppt/notesMasters/notesMaster1.xml" Id="Redb5d7d57415450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7647e77a4b0480d" /><Relationship Type="http://schemas.openxmlformats.org/officeDocument/2006/relationships/notesMaster" Target="/ppt/notesMasters/notesMaster1.xml" Id="R27191c0a76c54d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babc18d389249fa" /><Relationship Type="http://schemas.openxmlformats.org/officeDocument/2006/relationships/notesMaster" Target="/ppt/notesMasters/notesMaster1.xml" Id="R8e0f96b2d2e34f0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fa02a4e08a34b79" /><Relationship Type="http://schemas.openxmlformats.org/officeDocument/2006/relationships/notesMaster" Target="/ppt/notesMasters/notesMaster1.xml" Id="Ra704811edb0c4d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559493d531b4015" /><Relationship Type="http://schemas.openxmlformats.org/officeDocument/2006/relationships/notesMaster" Target="/ppt/notesMasters/notesMaster1.xml" Id="R70a8f6c5e3ab4d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c8d6973206243ef" /><Relationship Type="http://schemas.openxmlformats.org/officeDocument/2006/relationships/notesMaster" Target="/ppt/notesMasters/notesMaster1.xml" Id="Rc404fc7fc549461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1c3799694a4787" /><Relationship Type="http://schemas.openxmlformats.org/officeDocument/2006/relationships/notesMaster" Target="/ppt/notesMasters/notesMaster1.xml" Id="Rec1201aa32c7468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df22c6aed6f4a81" /><Relationship Type="http://schemas.openxmlformats.org/officeDocument/2006/relationships/notesMaster" Target="/ppt/notesMasters/notesMaster1.xml" Id="Reaad04971542405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e5b11910f244689" /><Relationship Type="http://schemas.openxmlformats.org/officeDocument/2006/relationships/notesMaster" Target="/ppt/notesMasters/notesMaster1.xml" Id="R1f3025fc929a43c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bfa5b96e4714c96" /><Relationship Type="http://schemas.openxmlformats.org/officeDocument/2006/relationships/notesMaster" Target="/ppt/notesMasters/notesMaster1.xml" Id="R432cd85461a4424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d212b0222ad46dd" /><Relationship Type="http://schemas.openxmlformats.org/officeDocument/2006/relationships/notesMaster" Target="/ppt/notesMasters/notesMaster1.xml" Id="R713510d7afd94e2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8bee4d505574079" /><Relationship Type="http://schemas.openxmlformats.org/officeDocument/2006/relationships/notesMaster" Target="/ppt/notesMasters/notesMaster1.xml" Id="R98450eb4bde74ba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瓷证面向陶瓷研究材料的整理、补证和交接。AI负责观察和证据整理，专业人员负责复核。器物为公开已知身份教学材料，不代表项目完成了独立鉴定。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图像：The Metropolitan Museum of Art，18.61.4，Public Domain / CC0。https://www.metmuseum.org/art/collection/search/48607</a:t>
            </a:r>
          </a:p>
          <a:p xmlns:a="http://schemas.openxmlformats.org/drawingml/2006/main">
            <a:r>
              <a:t>https://github.com/dingyucanada/cizheng-agent-skills/blob/main/examples/public-demo/sources.json</a:t>
            </a:r>
          </a:p>
          <a:p xmlns:a="http://schemas.openxmlformats.org/drawingml/2006/main">
            <a:r>
              <a:t>https://github.com/dingyucanada/cizheng-agent-skills/blob/main/docs/product-and-architecture.md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这里描述的是产品解决的工作问题，不是市场规模调查。收藏档案、博物馆编目和图录准备都需要把描述和依据对应。系统组织研究路径，不能凭照片替代实物检测。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https://github.com/dingyucanada/cizheng-agent-skills/blob/main/docs/product-and-architecture.md</a:t>
            </a:r>
          </a:p>
          <a:p xmlns:a="http://schemas.openxmlformats.org/drawingml/2006/main">
            <a:r>
              <a:t>https://github.com/dingyucanada/cizheng-agent-skills/blob/main/docs/professional-research.md</a:t>
            </a:r>
          </a:p>
          <a:p xmlns:a="http://schemas.openxmlformats.org/drawingml/2006/main">
            <a:r>
              <a:t>图像：The Metropolitan Museum of Art，79.2.1202a,b，Public Domain / CC0。https://www.metmuseum.org/art/collection/search/51185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来自真实本地专业工作台的公开教学案。选区、图像操作、来源记录和离线交接可以在不调用模型时使用。截图中的馆方资料和人工教学观察不等同实际模型报告。原件、人工记录、固定资料版本、Agent运行和复核各有版本，材料更新后旧复核显示过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https://github.com/dingyucanada/cizheng-agent-skills/blob/main/site/assets/workbench-v06.jpg</a:t>
            </a:r>
          </a:p>
          <a:p xmlns:a="http://schemas.openxmlformats.org/drawingml/2006/main">
            <a:r>
              <a:t>https://github.com/dingyucanada/cizheng-agent-skills/blob/main/docs/user-guide.md</a:t>
            </a:r>
          </a:p>
          <a:p xmlns:a="http://schemas.openxmlformats.org/drawingml/2006/main">
            <a:r>
              <a:t>https://github.com/dingyucanada/cizheng-agent-skills/blob/main/docs/product-and-architecture.md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这页以真实保存记录说明业务链路。主视觉模型处理公开Met48607两图，StepFun step-3.7-flash只接批准的四字段文字包，没有原图或图像访问地址。两版NAT引用核查及JSON、Markdown、HTML导出有实际记录。专业问题仍待解决：初稿把同器Met18.61.4资料写为不适用本件，修订删除该句，时期和风格支持理由仍需专业复核，三项审查问题均保留未解决。流程完成不能作为鉴定准确率或Skills因果效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https://github.com/dingyucanada/cizheng-agent-skills/blob/main/verification/nvidia/v07-workflows/round-12/workflow-summary.json</a:t>
            </a:r>
          </a:p>
          <a:p xmlns:a="http://schemas.openxmlformats.org/drawingml/2006/main">
            <a:r>
              <a:t>https://github.com/dingyucanada/cizheng-agent-skills/blob/main/verification/nvidia/v07-workflows/round-12/quality-limitations-audit.json</a:t>
            </a:r>
          </a:p>
          <a:p xmlns:a="http://schemas.openxmlformats.org/drawingml/2006/main">
            <a:r>
              <a:t>https://github.com/dingyucanada/cizheng-agent-skills/blob/main/verification/nvidia/v07-workflows/round-12/text-review/executed.json</a:t>
            </a:r>
          </a:p>
          <a:p xmlns:a="http://schemas.openxmlformats.org/drawingml/2006/main">
            <a:r>
              <a:t>https://dingyucanada.github.io/cizheng-agent-skills/assets/cizheng-ai-replay-v07.mp4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七包均为真实自研文件包，按description、SKILL正文和资源渐进加载，每包有适用范围和限制。整包SHA不是专家认可或NVIDIA Verified认证。宿主限制工具权限、实际读取和进入成功主动作的材料、累计模型和工具预算。真实运行还有可选协调器材料准备，协调器加载和模型自然触发分别记录；本页不把协调器行为当作Skills自然触发或专业提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https://github.com/dingyucanada/cizheng-agent-skills/blob/main/skills/ceramic-route/SKILL.md</a:t>
            </a:r>
          </a:p>
          <a:p xmlns:a="http://schemas.openxmlformats.org/drawingml/2006/main">
            <a:r>
              <a:t>https://github.com/dingyucanada/cizheng-agent-skills/blob/main/skills/ceramic-research-record/SKILL.md</a:t>
            </a:r>
          </a:p>
          <a:p xmlns:a="http://schemas.openxmlformats.org/drawingml/2006/main">
            <a:r>
              <a:t>https://github.com/dingyucanada/cizheng-agent-skills/blob/main/skills/bluewhite-attribution-test/SKILL.md</a:t>
            </a:r>
          </a:p>
          <a:p xmlns:a="http://schemas.openxmlformats.org/drawingml/2006/main">
            <a:r>
              <a:t>https://github.com/dingyucanada/cizheng-agent-skills/blob/main/skills/condition-hypothesis-test/SKILL.md</a:t>
            </a:r>
          </a:p>
          <a:p xmlns:a="http://schemas.openxmlformats.org/drawingml/2006/main">
            <a:r>
              <a:t>https://github.com/dingyucanada/cizheng-agent-skills/blob/main/skills/provenance-evidence-audit/SKILL.md</a:t>
            </a:r>
          </a:p>
          <a:p xmlns:a="http://schemas.openxmlformats.org/drawingml/2006/main">
            <a:r>
              <a:t>https://github.com/dingyucanada/cizheng-agent-skills/blob/main/skills/documentary-evidence-audit/SKILL.md</a:t>
            </a:r>
          </a:p>
          <a:p xmlns:a="http://schemas.openxmlformats.org/drawingml/2006/main">
            <a:r>
              <a:t>https://github.com/dingyucanada/cizheng-agent-skills/blob/main/skills/evidence-revise/SKILL.md</a:t>
            </a:r>
          </a:p>
          <a:p xmlns:a="http://schemas.openxmlformats.org/drawingml/2006/main">
            <a:r>
              <a:t>https://github.com/dingyucanada/cizheng-agent-skills/blob/main/cizheng/skill_runtime.py</a:t>
            </a:r>
          </a:p>
          <a:p xmlns:a="http://schemas.openxmlformats.org/drawingml/2006/main">
            <a:r>
              <a:t>https://github.com/dingyucanada/cizheng-agent-skills/blob/main/docs/controlled-workflow.md</a:t>
            </a:r>
          </a:p>
          <a:p xmlns:a="http://schemas.openxmlformats.org/drawingml/2006/main">
            <a:r>
              <a:t>NVIDIA Agent Skills平台参考：https://docs.nvidia.com/skills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架构是原生可编辑对象和连接线。本地案卷使用SQLite保存原件、版本和回执，主视觉为Spark Qwen3-VL-8B。35B和27B通过独立双图案卷验证而非默认切换，较大模型不自动证明更高准确率。27B公开原始权重和进程的绑定仍待核验。NAT经正式插件核查引用身份，不证明引用对专业结论的支持。StepFun只接明确批准的公开或脱敏文字。本轮NIM纯文本Qwen3-4B BF16为实际独立服务；TRT文字和官方Embedding+cuVS亦独立验收，主业务未自动切换。采集桥接是文件协议，不代表眼镜、手持仪器或桌面箱已完成厂商SDK和物理验收。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https://github.com/dingyucanada/cizheng-agent-skills/blob/main/docs/product-and-architecture.md</a:t>
            </a:r>
          </a:p>
          <a:p xmlns:a="http://schemas.openxmlformats.org/drawingml/2006/main">
            <a:r>
              <a:t>https://github.com/dingyucanada/cizheng-agent-skills/blob/main/docs/nvidia-integration.md</a:t>
            </a:r>
          </a:p>
          <a:p xmlns:a="http://schemas.openxmlformats.org/drawingml/2006/main">
            <a:r>
              <a:t>https://github.com/dingyucanada/cizheng-agent-skills/blob/main/docs/spark-models-and-reasoning-v10.md</a:t>
            </a:r>
          </a:p>
          <a:p xmlns:a="http://schemas.openxmlformats.org/drawingml/2006/main">
            <a:r>
              <a:t>https://github.com/dingyucanada/cizheng-agent-skills/blob/main/docs/device-capture.md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8B主视觉继续承担案卷业务。Qwen3.6-35B-A3B-NVFP4经原厂NIM的SGLang后端完成独立双图案卷流程，GPU有限采样可回查，运行后停止。35B使用Marlin NVFP4 W4A16路径，不声称完整NVFP4硬件加速。Qwen3.8-27B完成另一条独立双图案卷流程，公开工作流的原始weights_revision仍为unverified，不能证明固定原始权重和实际进程绑定。较大模型均未默认替换8B，也没有证明更高专业准确率。4B NIM和TensorRT-LLM为独立文字端点，TRT使用PyTorch backend，没有序列化engine。Embedding为开放官方1B v2加cuVS，不是Embedding NIM或完整Retriever SDK。主业务资料仍使用SQLite。这里记录部署和业务位置，不将单次延迟当作整案加速。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https://github.com/dingyucanada/cizheng-agent-skills/blob/main/docs/spark-models-and-reasoning-v10.md</a:t>
            </a:r>
          </a:p>
          <a:p xmlns:a="http://schemas.openxmlformats.org/drawingml/2006/main">
            <a:r>
              <a:t>https://github.com/dingyucanada/cizheng-agent-skills/blob/main/docs/nim-v09-update.md</a:t>
            </a:r>
          </a:p>
          <a:p xmlns:a="http://schemas.openxmlformats.org/drawingml/2006/main">
            <a:r>
              <a:t>https://github.com/dingyucanada/cizheng-agent-skills/blob/main/verification/nvidia/tensorrt-llm-v08/README.md</a:t>
            </a:r>
          </a:p>
          <a:p xmlns:a="http://schemas.openxmlformats.org/drawingml/2006/main">
            <a:r>
              <a:t>https://github.com/dingyucanada/cizheng-agent-skills/blob/main/integrations/nvidia_retriever/README-open-service.md</a:t>
            </a:r>
          </a:p>
          <a:p xmlns:a="http://schemas.openxmlformats.org/drawingml/2006/main">
            <a:r>
              <a:t>https://github.com/dingyucanada/cizheng-agent-skills/blob/main/docs/spark-validation.md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筛查是已实现的独立CPU规则功能，不调用视觉模型或StepFun。结构化记载绑定本件凭据SHA和定位，自动比较年份/高度区间、同编号体系的本件编号、来源事件先后。每维只计一次，固定总权重100。矛盾指数为冲突权重，所有未知时不可评价；复核优先为冲突权重加0.5倍未知权重；覆盖为已评价权重除100。截图只用于演示软件协议，两份300–301和350–351毫米高度是合成数字，不是馆藏实测或照片测量。权重和模型依据尚未完成专家标签校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https://github.com/dingyucanada/cizheng-agent-skills/blob/main/docs/risk-triage.md</a:t>
            </a:r>
          </a:p>
          <a:p xmlns:a="http://schemas.openxmlformats.org/drawingml/2006/main">
            <a:r>
              <a:t>https://github.com/dingyucanada/cizheng-agent-skills/blob/main/cizheng/risk_triage.py</a:t>
            </a:r>
          </a:p>
          <a:p xmlns:a="http://schemas.openxmlformats.org/drawingml/2006/main">
            <a:r>
              <a:t>https://github.com/dingyucanada/cizheng-agent-skills/blob/main/site/assets/risk-workbench-v09.png</a:t>
            </a:r>
          </a:p>
          <a:p xmlns:a="http://schemas.openxmlformats.org/drawingml/2006/main">
            <a:r>
              <a:t>https://dingyucanada.github.io/cizheng-agent-skills/triage.html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整体照片能支持部分可见形态，但不能补造底足、款识或修复细节。本页的拍摄循环是产品逻辑，也是可编辑流程。现已实现统一本机multipart会话协议、客户端、SHA校验、原始blob、设备声明、时间/单位和归档回执，并通过真实本机HTTP上传下载保持公共图片原字节SHA。设备身份、相机时钟和传感器尚未厂商认证或实物标定。智能眼镜、专业手持和桌面箱先导出文件到本机桥接；厂商SDK、直接拍摄控制和箱式硬件为未来研究，当前不具备材料检测或物理鉴定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https://github.com/dingyucanada/cizheng-agent-skills/blob/main/docs/device-capture.md</a:t>
            </a:r>
          </a:p>
          <a:p xmlns:a="http://schemas.openxmlformats.org/drawingml/2006/main">
            <a:r>
              <a:t>https://github.com/dingyucanada/cizheng-agent-skills/blob/main/scripts/device-capture-client.py</a:t>
            </a:r>
          </a:p>
          <a:p xmlns:a="http://schemas.openxmlformats.org/drawingml/2006/main">
            <a:r>
              <a:t>https://github.com/dingyucanada/cizheng-agent-skills/blob/main/docs/risk-triage.md</a:t>
            </a:r>
          </a:p>
          <a:p xmlns:a="http://schemas.openxmlformats.org/drawingml/2006/main">
            <a:r>
              <a:t>图像：The Metropolitan Museum of Art，18.61.4，Public Domain / CC0。https://www.metmuseum.org/art/collection/search/48607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种入口已经以公共教学案演示材料工作，不代表真实机构委托或合作。当前为个人作品和单人受控试用。拟议试用从小范围案卷材料整理开始，以材料整理时间、关键疑点遗漏、专家复核可用性评估产品价值。商业模式是后续探索，不虚构客户、收入、团队或已签合作。多用户权限、可信专家签署、合规审计和灾备仍需产品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https://github.com/dingyucanada/cizheng-agent-skills/blob/main/README.md</a:t>
            </a:r>
          </a:p>
          <a:p xmlns:a="http://schemas.openxmlformats.org/drawingml/2006/main">
            <a:r>
              <a:t>https://github.com/dingyucanada/cizheng-agent-skills/blob/main/docs/product-and-architecture.md</a:t>
            </a:r>
          </a:p>
          <a:p xmlns:a="http://schemas.openxmlformats.org/drawingml/2006/main">
            <a:r>
              <a:t>https://github.com/dingyucanada/cizheng-agent-skills/blob/main/examples/public-demo/professional-cases.json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是下一阶段研究路线，不是已取得的专家成绩。样本应取得授权并按器物分割，专家标签和首轮证据分开，避免同器照片泄漏到训练和测试两侧。专家分别评价图像观察、区域定位、资料引用、理由、补证和拒绝判断。固定模型、资料和预算后比较有/无Skills，保留失败并在独立保留样本上回归。NVFLARE联合训练和NeMo RL后训练是未来研究，没有联合训练网络、自动在线学习或专业准确率。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https://github.com/dingyucanada/cizheng-agent-skills/blob/main/docs/expert-validation-intake.md</a:t>
            </a:r>
          </a:p>
          <a:p xmlns:a="http://schemas.openxmlformats.org/drawingml/2006/main">
            <a:r>
              <a:t>https://github.com/dingyucanada/cizheng-agent-skills/blob/main/docs/training-implementation.md</a:t>
            </a:r>
          </a:p>
          <a:p xmlns:a="http://schemas.openxmlformats.org/drawingml/2006/main">
            <a:r>
              <a:t>https://github.com/dingyucanada/cizheng-agent-skills/blob/main/evals/PROTOCOL.md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三件器物各两张Met CC0照片，保存了九次真实Spark流程。阶段A不向模型提供本件馆方年代和窑口，普通提示和Skills使用同模型、同预算；全部A结束后，阶段B再加入同件固定馆藏文字。四轮保存意见并等待补证，五轮停止，全部原件和模型原文保留，不能把停止写成成功报告。储水器由荷兰设计师Pronk设计不等同荷兰制作，彩瓷瓶没有外底或足内视角不能推出实物无款，青釉碗黄色修补外观不能单凭照片确定金缮工艺。碗的阶段B有一条来源语境引用，但底款建议和理由仍需专业评价。另有一次实际StepFun公开文字审查，属于AI反证而非专家意见。此页是公开馆藏资料的个案核查，不是独立专家鉴定或行业准确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https://dingyucanada.github.io/cizheng-agent-skills/public-collection-check.html</a:t>
            </a:r>
          </a:p>
          <a:p xmlns:a="http://schemas.openxmlformats.org/drawingml/2006/main">
            <a:r>
              <a:t>https://github.com/dingyucanada/cizheng-agent-skills/blob/main/docs/public-collection-case-check-20260929.md</a:t>
            </a:r>
          </a:p>
          <a:p xmlns:a="http://schemas.openxmlformats.org/drawingml/2006/main">
            <a:r>
              <a:t>https://github.com/dingyucanada/cizheng-agent-skills/blob/main/verification/public-collection-20260929/index.json</a:t>
            </a:r>
          </a:p>
          <a:p xmlns:a="http://schemas.openxmlformats.org/drawingml/2006/main">
            <a:r>
              <a:t>图像：The Metropolitan Museum of Art，“射手”纹青花储水器，2021.321a, b，Public Domain / CC0。https://www.metmuseum.org/art/collection/search/854455</a:t>
            </a:r>
          </a:p>
          <a:p xmlns:a="http://schemas.openxmlformats.org/drawingml/2006/main">
            <a:r>
              <a:t>图像：The Metropolitan Museum of Art，仿古铜器形彩瓷瓶，14.40.396，Public Domain / CC0。https://www.metmuseum.org/art/collection/search/42239</a:t>
            </a:r>
          </a:p>
          <a:p xmlns:a="http://schemas.openxmlformats.org/drawingml/2006/main">
            <a:r>
              <a:t>图像：The Metropolitan Museum of Art，龙泉青釉碗，17.57.1，Public Domain / CC0。https://www.metmuseum.org/art/collection/search/48450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个人参赛作品。完整报告呈现产品、实际模型记录和部署证据。公开教学体验无需上传，不调用私有模型。公开仓库保留自研方法包、代码和脱敏部署记录。来源机构和NVIDIA不代表对本项目的背书或专业鉴定认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来源和范围</a:t>
            </a:r>
          </a:p>
          <a:p xmlns:a="http://schemas.openxmlformats.org/drawingml/2006/main">
            <a:r>
              <a:t>https://dingyucanada.github.io/cizheng-agent-skills/report.html</a:t>
            </a:r>
          </a:p>
          <a:p xmlns:a="http://schemas.openxmlformats.org/drawingml/2006/main">
            <a:r>
              <a:t>https://dingyucanada.github.io/cizheng-agent-skills/demo.html</a:t>
            </a:r>
          </a:p>
          <a:p xmlns:a="http://schemas.openxmlformats.org/drawingml/2006/main">
            <a:r>
              <a:t>https://github.com/dingyucanada/cizheng-agent-skills</a:t>
            </a:r>
          </a:p>
          <a:p xmlns:a="http://schemas.openxmlformats.org/drawingml/2006/main">
            <a:r>
              <a:t>图像：The Metropolitan Museum of Art，61.200.30，Public Domain / CC0。https://www.metmuseum.org/art/collection/search/50839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47f0daed944426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72d92cdd1f347c1" /><Relationship Type="http://schemas.openxmlformats.org/officeDocument/2006/relationships/slideLayout" Target="/ppt/slideLayouts/slideLayout1.xml" Id="Ree3890084a9c4d2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3890084a9c4d2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瓷证">
      <a:dk1>
        <a:srgbClr val="000000"/>
      </a:dk1>
      <a:lt1>
        <a:srgbClr val="FFFFFF"/>
      </a:lt1>
      <a:dk2>
        <a:srgbClr val="132D49"/>
      </a:dk2>
      <a:lt2>
        <a:srgbClr val="EEF4F8"/>
      </a:lt2>
      <a:accent1>
        <a:srgbClr val="245B88"/>
      </a:accent1>
      <a:accent2>
        <a:srgbClr val="132D49"/>
      </a:accent2>
      <a:accent3>
        <a:srgbClr val="AE8B4A"/>
      </a:accent3>
      <a:accent4>
        <a:srgbClr val="5E7181"/>
      </a:accent4>
      <a:accent5>
        <a:srgbClr val="C7D5E0"/>
      </a:accent5>
      <a:accent6>
        <a:srgbClr val="C7D6E2"/>
      </a:accent6>
      <a:hlink>
        <a:srgbClr val="C7D6E2"/>
      </a:hlink>
      <a:folHlink>
        <a:srgbClr val="C7D6E2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瓷证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195be151044089" /><Relationship Type="http://schemas.openxmlformats.org/officeDocument/2006/relationships/image" Target="/ppt/media/image.jpeg" Id="R7f183f85d1d54c4c" /><Relationship Type="http://schemas.openxmlformats.org/officeDocument/2006/relationships/notesSlide" Target="/ppt/notesSlides/notesSlide1.xml" Id="Re922271da56148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e29d46e19c4c4d" /><Relationship Type="http://schemas.openxmlformats.org/officeDocument/2006/relationships/image" Target="/ppt/media/image2.jpeg" Id="R624dead95c924879" /><Relationship Type="http://schemas.openxmlformats.org/officeDocument/2006/relationships/notesSlide" Target="/ppt/notesSlides/notesSlide2.xml" Id="Rcf5bdae0b32042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8ad2c4d315428f" /><Relationship Type="http://schemas.openxmlformats.org/officeDocument/2006/relationships/image" Target="/ppt/media/image3.jpeg" Id="R31dd0ae553254694" /><Relationship Type="http://schemas.openxmlformats.org/officeDocument/2006/relationships/notesSlide" Target="/ppt/notesSlides/notesSlide3.xml" Id="R6eb6b27e44df4a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3833a47bab412f" /><Relationship Type="http://schemas.openxmlformats.org/officeDocument/2006/relationships/notesSlide" Target="/ppt/notesSlides/notesSlide4.xml" Id="Rcb91a7a396554e3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ede22da48409d" /><Relationship Type="http://schemas.openxmlformats.org/officeDocument/2006/relationships/notesSlide" Target="/ppt/notesSlides/notesSlide5.xml" Id="Rdf0f058968ce43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d0127388a04b66" /><Relationship Type="http://schemas.openxmlformats.org/officeDocument/2006/relationships/notesSlide" Target="/ppt/notesSlides/notesSlide6.xml" Id="R8dabe6e100704cf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10d56e76340f8" /><Relationship Type="http://schemas.openxmlformats.org/officeDocument/2006/relationships/notesSlide" Target="/ppt/notesSlides/notesSlide7.xml" Id="R80b0e7ca1c254e9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d6c314b754868" /><Relationship Type="http://schemas.openxmlformats.org/officeDocument/2006/relationships/image" Target="/ppt/media/image.png" Id="Rabfa1c84858c4f1e" /><Relationship Type="http://schemas.openxmlformats.org/officeDocument/2006/relationships/notesSlide" Target="/ppt/notesSlides/notesSlide8.xml" Id="R6389ff9fb5cd445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174140e5949d8" /><Relationship Type="http://schemas.openxmlformats.org/officeDocument/2006/relationships/image" Target="/ppt/media/image4.jpeg" Id="R947c82e44c5440f5" /><Relationship Type="http://schemas.openxmlformats.org/officeDocument/2006/relationships/notesSlide" Target="/ppt/notesSlides/notesSlide9.xml" Id="R889d50fb6f5c4e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116f6652c940c0" /><Relationship Type="http://schemas.openxmlformats.org/officeDocument/2006/relationships/notesSlide" Target="/ppt/notesSlides/notesSlide10.xml" Id="R88ddce30b9124d8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6b6796f98e4a03" /><Relationship Type="http://schemas.openxmlformats.org/officeDocument/2006/relationships/notesSlide" Target="/ppt/notesSlides/notesSlide11.xml" Id="Rb9d4a8a62f474c1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b000dfef5a4815" /><Relationship Type="http://schemas.openxmlformats.org/officeDocument/2006/relationships/image" Target="/ppt/media/image5.jpeg" Id="Rb5a857b6543e4338" /><Relationship Type="http://schemas.openxmlformats.org/officeDocument/2006/relationships/image" Target="/ppt/media/image6.jpeg" Id="Rf2d39f526942498a" /><Relationship Type="http://schemas.openxmlformats.org/officeDocument/2006/relationships/image" Target="/ppt/media/image7.jpeg" Id="R3835ddd658eb4acd" /><Relationship Type="http://schemas.openxmlformats.org/officeDocument/2006/relationships/notesSlide" Target="/ppt/notesSlides/notesSlide12.xml" Id="R57a723adbd394fe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cdbc7ed0e34eec" /><Relationship Type="http://schemas.openxmlformats.org/officeDocument/2006/relationships/image" Target="/ppt/media/image8.jpeg" Id="R5add957754304b59" /><Relationship Type="http://schemas.openxmlformats.org/officeDocument/2006/relationships/hyperlink" Target="https://dingyucanada.github.io/cizheng-agent-skills/report.html" TargetMode="External" Id="R9493ce970b554d20" /><Relationship Type="http://schemas.openxmlformats.org/officeDocument/2006/relationships/hyperlink" Target="https://dingyucanada.github.io/cizheng-agent-skills/public-collection-check.html" TargetMode="External" Id="Ra3a357cdfc064d76" /><Relationship Type="http://schemas.openxmlformats.org/officeDocument/2006/relationships/hyperlink" Target="https://github.com/dingyucanada/cizheng-agent-skills" TargetMode="External" Id="R76ca250c791e4644" /><Relationship Type="http://schemas.openxmlformats.org/officeDocument/2006/relationships/notesSlide" Target="/ppt/notesSlides/notesSlide13.xml" Id="R8dda53611c71480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D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183f85d1d54c4c"/>
          <a:srcRect xmlns:a="http://schemas.openxmlformats.org/drawingml/2006/main" l="0" t="3125" r="0" b="312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315200" y="0"/>
            <a:ext cx="48768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瓷证">
            <a:extLst xmlns:a="http://schemas.openxmlformats.org/drawingml/2006/main">
              <a:ext uri="{FF2B5EF4-FFF2-40B4-BE49-F238E27FC236}">
                <a16:creationId xmlns:a16="http://schemas.microsoft.com/office/drawing/2014/main" id="{EE11AE25-E34B-4F62-8DC2-141CBB48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9700"/>
            <a:ext cx="60198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20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72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瓷证</a:t>
            </a:r>
          </a:p>
        </p:txBody>
      </p:sp>
      <p:sp>
        <p:nvSpPr>
          <p:cNvPr id="3" name="陶瓷证据研究 Agent">
            <a:extLst xmlns:a="http://schemas.openxmlformats.org/drawingml/2006/main">
              <a:ext uri="{FF2B5EF4-FFF2-40B4-BE49-F238E27FC236}">
                <a16:creationId xmlns:a16="http://schemas.microsoft.com/office/drawing/2014/main" id="{A90BA10B-9189-4A81-8C87-D7485E69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6038850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陶瓷证据研究 Agent</a:t>
            </a:r>
          </a:p>
        </p:txBody>
      </p:sp>
      <p:sp>
        <p:nvSpPr>
          <p:cNvPr id="4" name="原件、观察和资料依据&#10;保存在一份可继续复核的案卷中">
            <a:extLst xmlns:a="http://schemas.openxmlformats.org/drawingml/2006/main">
              <a:ext uri="{FF2B5EF4-FFF2-40B4-BE49-F238E27FC236}">
                <a16:creationId xmlns:a16="http://schemas.microsoft.com/office/drawing/2014/main" id="{540A95B2-9728-48E2-BD24-5753CD9EA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59245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原件、观察和资料依据</a:t>
            </a:r>
          </a:p>
          <a:p xmlns:a="http://schemas.openxmlformats.org/drawingml/2006/main">
            <a:pPr algn="l">
              <a:def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保存在一份可继续复核的案卷中</a:t>
            </a:r>
          </a:p>
        </p:txBody>
      </p:sp>
      <p:sp>
        <p:nvSpPr>
          <p:cNvPr id="5" name="个人参赛作品  ·  2026.09">
            <a:extLst xmlns:a="http://schemas.openxmlformats.org/drawingml/2006/main">
              <a:ext uri="{FF2B5EF4-FFF2-40B4-BE49-F238E27FC236}">
                <a16:creationId xmlns:a16="http://schemas.microsoft.com/office/drawing/2014/main" id="{09C022A7-C8FD-452B-A8FE-6E181609F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076950"/>
            <a:ext cx="590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个人参赛作品  ·  2026.09</a:t>
            </a:r>
          </a:p>
        </p:txBody>
      </p:sp>
    </p:spTree>
    <p:extLst>
      <p:ext uri="{BB962C8B-B14F-4D97-AF65-F5344CB8AC3E}">
        <p14:creationId xmlns:p14="http://schemas.microsoft.com/office/powerpoint/2010/main" val="9534389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专业复核先要找回证据">
            <a:extLst xmlns:a="http://schemas.openxmlformats.org/drawingml/2006/main">
              <a:ext uri="{FF2B5EF4-FFF2-40B4-BE49-F238E27FC236}">
                <a16:creationId xmlns:a16="http://schemas.microsoft.com/office/drawing/2014/main" id="{D3DC4C5F-8D30-46A7-B7D8-88B2BE75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专业复核先要找回证据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4dead95c924879"/>
          <a:stretch xmlns:a="http://schemas.openxmlformats.org/drawingml/2006/main"/>
        </p:blipFill>
        <p:spPr>
          <a:xfrm xmlns:a="http://schemas.openxmlformats.org/drawingml/2006/main">
            <a:off x="7334250" y="2219325"/>
            <a:ext cx="4114800" cy="2743200"/>
          </a:xfrm>
          <a:prstGeom xmlns:a="http://schemas.openxmlformats.org/drawingml/2006/main" prst="rect">
            <a:avLst/>
          </a:prstGeom>
        </p:spPr>
      </p:pic>
      <p:sp>
        <p:nvSpPr>
          <p:cNvPr id="3" name="材料分散">
            <a:extLst xmlns:a="http://schemas.openxmlformats.org/drawingml/2006/main">
              <a:ext uri="{FF2B5EF4-FFF2-40B4-BE49-F238E27FC236}">
                <a16:creationId xmlns:a16="http://schemas.microsoft.com/office/drawing/2014/main" id="{EB16CBFB-3F96-40BD-B377-32309811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6212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材料分散</a:t>
            </a:r>
          </a:p>
        </p:txBody>
      </p:sp>
      <p:sp>
        <p:nvSpPr>
          <p:cNvPr id="4" name="照片、来源记录和描述难以逐条对应">
            <a:extLst xmlns:a="http://schemas.openxmlformats.org/drawingml/2006/main">
              <a:ext uri="{FF2B5EF4-FFF2-40B4-BE49-F238E27FC236}">
                <a16:creationId xmlns:a16="http://schemas.microsoft.com/office/drawing/2014/main" id="{BC88E18F-77D5-49F8-A2DE-3EBA062E2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14575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照片、来源记录和描述难以逐条对应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D69A72-0959-4C63-8311-F7037D6A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905125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5E0"/>
            </a:solidFill>
          </a:ln>
        </p:spPr>
      </p:sp>
      <p:sp>
        <p:nvSpPr>
          <p:cNvPr id="6" name="理由难回查">
            <a:extLst xmlns:a="http://schemas.openxmlformats.org/drawingml/2006/main">
              <a:ext uri="{FF2B5EF4-FFF2-40B4-BE49-F238E27FC236}">
                <a16:creationId xmlns:a16="http://schemas.microsoft.com/office/drawing/2014/main" id="{2C9CCAE7-4161-49C8-A2A7-17A8A4FD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理由难回查</a:t>
            </a:r>
          </a:p>
        </p:txBody>
      </p:sp>
      <p:sp>
        <p:nvSpPr>
          <p:cNvPr id="7" name="一句归属意见需要具体观察和资料段落">
            <a:extLst xmlns:a="http://schemas.openxmlformats.org/drawingml/2006/main">
              <a:ext uri="{FF2B5EF4-FFF2-40B4-BE49-F238E27FC236}">
                <a16:creationId xmlns:a16="http://schemas.microsoft.com/office/drawing/2014/main" id="{8EB937EF-1F10-442E-9D73-72DDC38B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6385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一句归属意见需要具体观察和资料段落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B8573E-5760-4B90-A2D1-4C29EB639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609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5E0"/>
            </a:solidFill>
          </a:ln>
        </p:spPr>
      </p:sp>
      <p:sp>
        <p:nvSpPr>
          <p:cNvPr id="9" name="补证缺少顺序">
            <a:extLst xmlns:a="http://schemas.openxmlformats.org/drawingml/2006/main">
              <a:ext uri="{FF2B5EF4-FFF2-40B4-BE49-F238E27FC236}">
                <a16:creationId xmlns:a16="http://schemas.microsoft.com/office/drawing/2014/main" id="{3D16F7AA-31D1-41F1-9415-55651920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补证缺少顺序</a:t>
            </a:r>
          </a:p>
        </p:txBody>
      </p:sp>
      <p:sp>
        <p:nvSpPr>
          <p:cNvPr id="10" name="下一张照片应回应当前证据缺口">
            <a:extLst xmlns:a="http://schemas.openxmlformats.org/drawingml/2006/main">
              <a:ext uri="{FF2B5EF4-FFF2-40B4-BE49-F238E27FC236}">
                <a16:creationId xmlns:a16="http://schemas.microsoft.com/office/drawing/2014/main" id="{0FB6EE6D-B4BE-4D9D-BE9F-5077DDB3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62525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下一张照片应回应当前证据缺口</a:t>
            </a:r>
          </a:p>
        </p:txBody>
      </p:sp>
      <p:sp>
        <p:nvSpPr>
          <p:cNvPr id="11" name="交付目标：一条可回到原图、原文件和出处的研究路径">
            <a:extLst xmlns:a="http://schemas.openxmlformats.org/drawingml/2006/main">
              <a:ext uri="{FF2B5EF4-FFF2-40B4-BE49-F238E27FC236}">
                <a16:creationId xmlns:a16="http://schemas.microsoft.com/office/drawing/2014/main" id="{56095E07-B43E-4806-81E9-161EFE92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34075"/>
            <a:ext cx="10572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交付目标：一条可回到原图、原文件和出处的研究路径</a:t>
            </a:r>
          </a:p>
        </p:txBody>
      </p:sp>
      <p:sp>
        <p:nvSpPr>
          <p:cNvPr id="12" name="02">
            <a:extLst xmlns:a="http://schemas.openxmlformats.org/drawingml/2006/main">
              <a:ext uri="{FF2B5EF4-FFF2-40B4-BE49-F238E27FC236}">
                <a16:creationId xmlns:a16="http://schemas.microsoft.com/office/drawing/2014/main" id="{1D4D94B9-4E6B-4D4A-A51F-F40EE77E9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361422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一份案卷承接整段研究工作">
            <a:extLst xmlns:a="http://schemas.openxmlformats.org/drawingml/2006/main">
              <a:ext uri="{FF2B5EF4-FFF2-40B4-BE49-F238E27FC236}">
                <a16:creationId xmlns:a16="http://schemas.microsoft.com/office/drawing/2014/main" id="{01198E2E-85F4-438D-8BE3-D287C4C7C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一份案卷承接整段研究工作</a:t>
            </a:r>
          </a:p>
        </p:txBody>
      </p:sp>
      <p:sp>
        <p:nvSpPr>
          <p:cNvPr id="2" name="原图定位、资料阅读和待补证，直接对应到同一件器物">
            <a:extLst xmlns:a="http://schemas.openxmlformats.org/drawingml/2006/main">
              <a:ext uri="{FF2B5EF4-FFF2-40B4-BE49-F238E27FC236}">
                <a16:creationId xmlns:a16="http://schemas.microsoft.com/office/drawing/2014/main" id="{B206B9FD-DE07-48AC-BFB9-8F72357E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原图定位、资料阅读和待补证，直接对应到同一件器物</a:t>
            </a:r>
          </a:p>
        </p:txBody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dd0ae553254694"/>
          <a:srcRect xmlns:a="http://schemas.openxmlformats.org/drawingml/2006/main" l="16600" t="8300" r="0" b="0"/>
          <a:stretch xmlns:a="http://schemas.openxmlformats.org/drawingml/2006/main"/>
        </p:blipFill>
        <p:spPr>
          <a:xfrm xmlns:a="http://schemas.openxmlformats.org/drawingml/2006/main">
            <a:off x="628650" y="1885950"/>
            <a:ext cx="8610600" cy="4210050"/>
          </a:xfrm>
          <a:prstGeom xmlns:a="http://schemas.openxmlformats.org/drawingml/2006/main" prst="rect">
            <a:avLst/>
          </a:prstGeom>
        </p:spPr>
      </p:pic>
      <p:sp>
        <p:nvSpPr>
          <p:cNvPr id="4" name="原件">
            <a:extLst xmlns:a="http://schemas.openxmlformats.org/drawingml/2006/main">
              <a:ext uri="{FF2B5EF4-FFF2-40B4-BE49-F238E27FC236}">
                <a16:creationId xmlns:a16="http://schemas.microsoft.com/office/drawing/2014/main" id="{8A295C1C-A49F-452C-ABC3-D9BEF94B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10502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原件</a:t>
            </a:r>
          </a:p>
        </p:txBody>
      </p:sp>
      <p:sp>
        <p:nvSpPr>
          <p:cNvPr id="5" name="SHA 和来源&#10;保留原始字节">
            <a:extLst xmlns:a="http://schemas.openxmlformats.org/drawingml/2006/main">
              <a:ext uri="{FF2B5EF4-FFF2-40B4-BE49-F238E27FC236}">
                <a16:creationId xmlns:a16="http://schemas.microsoft.com/office/drawing/2014/main" id="{611AC0F3-1713-4C56-B255-9853BC957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609850"/>
            <a:ext cx="1885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SHA 和来源</a:t>
            </a:r>
          </a:p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保留原始字节</a:t>
            </a:r>
          </a:p>
        </p:txBody>
      </p:sp>
      <p:sp>
        <p:nvSpPr>
          <p:cNvPr id="6" name="观察">
            <a:extLst xmlns:a="http://schemas.openxmlformats.org/drawingml/2006/main">
              <a:ext uri="{FF2B5EF4-FFF2-40B4-BE49-F238E27FC236}">
                <a16:creationId xmlns:a16="http://schemas.microsoft.com/office/drawing/2014/main" id="{9FD95B83-C67D-4FD5-9055-F9E0636E1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714750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观察</a:t>
            </a:r>
          </a:p>
        </p:txBody>
      </p:sp>
      <p:sp>
        <p:nvSpPr>
          <p:cNvPr id="7" name="区域有位置&#10;理由可回查">
            <a:extLst xmlns:a="http://schemas.openxmlformats.org/drawingml/2006/main">
              <a:ext uri="{FF2B5EF4-FFF2-40B4-BE49-F238E27FC236}">
                <a16:creationId xmlns:a16="http://schemas.microsoft.com/office/drawing/2014/main" id="{54A446F6-7B2F-45D8-AAE2-F985BF334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219575"/>
            <a:ext cx="1905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区域有位置</a:t>
            </a:r>
          </a:p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理由可回查</a:t>
            </a:r>
          </a:p>
        </p:txBody>
      </p:sp>
      <p:sp>
        <p:nvSpPr>
          <p:cNvPr id="8" name="版本">
            <a:extLst xmlns:a="http://schemas.openxmlformats.org/drawingml/2006/main">
              <a:ext uri="{FF2B5EF4-FFF2-40B4-BE49-F238E27FC236}">
                <a16:creationId xmlns:a16="http://schemas.microsoft.com/office/drawing/2014/main" id="{9F3EC6C0-0D74-43B3-8D2E-7CFADC8D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324475"/>
            <a:ext cx="1905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版本</a:t>
            </a:r>
          </a:p>
        </p:txBody>
      </p:sp>
      <p:sp>
        <p:nvSpPr>
          <p:cNvPr id="9" name="补证后保留历史">
            <a:extLst xmlns:a="http://schemas.openxmlformats.org/drawingml/2006/main">
              <a:ext uri="{FF2B5EF4-FFF2-40B4-BE49-F238E27FC236}">
                <a16:creationId xmlns:a16="http://schemas.microsoft.com/office/drawing/2014/main" id="{4FEBA0F1-68B7-4DBE-A432-D54297B06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810250"/>
            <a:ext cx="20002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补证后保留历史</a:t>
            </a:r>
          </a:p>
        </p:txBody>
      </p:sp>
      <p:sp>
        <p:nvSpPr>
          <p:cNvPr id="10" name="03">
            <a:extLst xmlns:a="http://schemas.openxmlformats.org/drawingml/2006/main">
              <a:ext uri="{FF2B5EF4-FFF2-40B4-BE49-F238E27FC236}">
                <a16:creationId xmlns:a16="http://schemas.microsoft.com/office/drawing/2014/main" id="{28482561-2D6E-489A-B7DF-CAC9495C6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3903767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真实案卷的审查和修订闭环">
            <a:extLst xmlns:a="http://schemas.openxmlformats.org/drawingml/2006/main">
              <a:ext uri="{FF2B5EF4-FFF2-40B4-BE49-F238E27FC236}">
                <a16:creationId xmlns:a16="http://schemas.microsoft.com/office/drawing/2014/main" id="{542495AE-170B-47CC-A492-065CE943F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真实案卷的审查和修订闭环</a:t>
            </a:r>
          </a:p>
        </p:txBody>
      </p:sp>
      <p:sp>
        <p:nvSpPr>
          <p:cNvPr id="2" name="公开双图案卷已经保存初稿、文字审查、本地回查和导出">
            <a:extLst xmlns:a="http://schemas.openxmlformats.org/drawingml/2006/main">
              <a:ext uri="{FF2B5EF4-FFF2-40B4-BE49-F238E27FC236}">
                <a16:creationId xmlns:a16="http://schemas.microsoft.com/office/drawing/2014/main" id="{779307B5-711D-412A-A010-928CFE5F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10810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公开双图案卷已经保存初稿、文字审查、本地回查和导出</a:t>
            </a:r>
          </a:p>
        </p:txBody>
      </p:sp>
      <p:sp>
        <p:nvSpPr>
          <p:cNvPr id="3" name="原件和资料">
            <a:extLst xmlns:a="http://schemas.openxmlformats.org/drawingml/2006/main">
              <a:ext uri="{FF2B5EF4-FFF2-40B4-BE49-F238E27FC236}">
                <a16:creationId xmlns:a16="http://schemas.microsoft.com/office/drawing/2014/main" id="{055FFCA7-0561-4E54-878B-D46D4B76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47900"/>
            <a:ext cx="20193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原件和资料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双图进入本地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固定正文和回执</a:t>
            </a:r>
          </a:p>
        </p:txBody>
      </p:sp>
      <p:sp>
        <p:nvSpPr>
          <p:cNvPr id="4" name="本地研究">
            <a:extLst xmlns:a="http://schemas.openxmlformats.org/drawingml/2006/main">
              <a:ext uri="{FF2B5EF4-FFF2-40B4-BE49-F238E27FC236}">
                <a16:creationId xmlns:a16="http://schemas.microsoft.com/office/drawing/2014/main" id="{D32745A4-7BB0-4DAF-8DB3-9442133AD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247900"/>
            <a:ext cx="20193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本地研究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可定位观察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分项理由和缺口</a:t>
            </a:r>
          </a:p>
        </p:txBody>
      </p:sp>
      <p:sp>
        <p:nvSpPr>
          <p:cNvPr id="5" name="文字审查">
            <a:extLst xmlns:a="http://schemas.openxmlformats.org/drawingml/2006/main">
              <a:ext uri="{FF2B5EF4-FFF2-40B4-BE49-F238E27FC236}">
                <a16:creationId xmlns:a16="http://schemas.microsoft.com/office/drawing/2014/main" id="{C6142431-6A4F-43AC-8C45-34C6F553A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47900"/>
            <a:ext cx="20193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文字审查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StepFun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只接批准文字</a:t>
            </a:r>
          </a:p>
        </p:txBody>
      </p:sp>
      <p:sp>
        <p:nvSpPr>
          <p:cNvPr id="6" name="复看和修订">
            <a:extLst xmlns:a="http://schemas.openxmlformats.org/drawingml/2006/main">
              <a:ext uri="{FF2B5EF4-FFF2-40B4-BE49-F238E27FC236}">
                <a16:creationId xmlns:a16="http://schemas.microsoft.com/office/drawing/2014/main" id="{6C309648-2A6A-42AD-8894-185B477AF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247900"/>
            <a:ext cx="20193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复看和修订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回查原图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逐项回应问题</a:t>
            </a:r>
          </a:p>
        </p:txBody>
      </p:sp>
      <p:sp>
        <p:nvSpPr>
          <p:cNvPr id="7" name="交接案卷">
            <a:extLst xmlns:a="http://schemas.openxmlformats.org/drawingml/2006/main">
              <a:ext uri="{FF2B5EF4-FFF2-40B4-BE49-F238E27FC236}">
                <a16:creationId xmlns:a16="http://schemas.microsoft.com/office/drawing/2014/main" id="{04A138A2-A7C0-4852-A6E6-9057D88B9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247900"/>
            <a:ext cx="2019300" cy="1457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交接案卷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报告和原件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保留两版历史</a:t>
            </a:r>
          </a:p>
        </p:txBody>
      </p:sp>
      <p:cxnSp>
        <p:nvCxnSpPr>
          <p:cNvPr id="25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647950" y="297656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857750" y="297656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067550" y="297656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277350" y="2976563"/>
            <a:ext cx="190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sp>
        <p:nvSpPr>
          <p:cNvPr id="12" name="审查提出的问题">
            <a:extLst xmlns:a="http://schemas.openxmlformats.org/drawingml/2006/main">
              <a:ext uri="{FF2B5EF4-FFF2-40B4-BE49-F238E27FC236}">
                <a16:creationId xmlns:a16="http://schemas.microsoft.com/office/drawing/2014/main" id="{0A3DD17F-1557-442E-A770-2DF2001FB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71975"/>
            <a:ext cx="5143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审查提出的问题</a:t>
            </a:r>
          </a:p>
        </p:txBody>
      </p:sp>
      <p:sp>
        <p:nvSpPr>
          <p:cNvPr id="13" name="“风格主张无具体特征比对依据”">
            <a:extLst xmlns:a="http://schemas.openxmlformats.org/drawingml/2006/main">
              <a:ext uri="{FF2B5EF4-FFF2-40B4-BE49-F238E27FC236}">
                <a16:creationId xmlns:a16="http://schemas.microsoft.com/office/drawing/2014/main" id="{037BD906-B3D9-4378-B0DA-8E69276CD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43475"/>
            <a:ext cx="5257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“风格主张无具体特征比对依据”</a:t>
            </a:r>
          </a:p>
        </p:txBody>
      </p:sp>
      <p:sp>
        <p:nvSpPr>
          <p:cNvPr id="14" name="修订保留的状态">
            <a:extLst xmlns:a="http://schemas.openxmlformats.org/drawingml/2006/main">
              <a:ext uri="{FF2B5EF4-FFF2-40B4-BE49-F238E27FC236}">
                <a16:creationId xmlns:a16="http://schemas.microsoft.com/office/drawing/2014/main" id="{6DB4100F-452A-411C-B0A2-783A06B5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71975"/>
            <a:ext cx="5048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修订保留的状态</a:t>
            </a:r>
          </a:p>
        </p:txBody>
      </p:sp>
      <p:sp>
        <p:nvSpPr>
          <p:cNvPr id="15" name="制作时期、窑口和风格仍为证据不足&#10;待补证问题和原初稿继续可回查">
            <a:extLst xmlns:a="http://schemas.openxmlformats.org/drawingml/2006/main">
              <a:ext uri="{FF2B5EF4-FFF2-40B4-BE49-F238E27FC236}">
                <a16:creationId xmlns:a16="http://schemas.microsoft.com/office/drawing/2014/main" id="{C25710CC-7B50-48D7-8FE1-46399E735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943475"/>
            <a:ext cx="505777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制作时期、窑口和风格仍为证据不足</a:t>
            </a:r>
          </a:p>
          <a:p xmlns:a="http://schemas.openxmlformats.org/drawingml/2006/main">
            <a:pPr algn="l">
              <a:def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待补证问题和原初稿继续可回查</a:t>
            </a:r>
          </a:p>
        </p:txBody>
      </p:sp>
      <p:sp>
        <p:nvSpPr>
          <p:cNvPr id="16" name="本例仍有资料对应和论据支持问题，独立专家评价列入下一阶段">
            <a:extLst xmlns:a="http://schemas.openxmlformats.org/drawingml/2006/main">
              <a:ext uri="{FF2B5EF4-FFF2-40B4-BE49-F238E27FC236}">
                <a16:creationId xmlns:a16="http://schemas.microsoft.com/office/drawing/2014/main" id="{7ADA5446-59BA-4F2B-946F-A9A7A6EC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24575"/>
            <a:ext cx="1064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本例仍有资料对应和论据支持问题，独立专家评价列入下一阶段</a:t>
            </a:r>
          </a:p>
        </p:txBody>
      </p:sp>
      <p:sp>
        <p:nvSpPr>
          <p:cNvPr id="17" name="04">
            <a:extLst xmlns:a="http://schemas.openxmlformats.org/drawingml/2006/main">
              <a:ext uri="{FF2B5EF4-FFF2-40B4-BE49-F238E27FC236}">
                <a16:creationId xmlns:a16="http://schemas.microsoft.com/office/drawing/2014/main" id="{D0EE2B3D-CB86-4C66-8BC6-6DDB023C1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3127193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gent Skills 把方法写成执行步骤">
            <a:extLst xmlns:a="http://schemas.openxmlformats.org/drawingml/2006/main">
              <a:ext uri="{FF2B5EF4-FFF2-40B4-BE49-F238E27FC236}">
                <a16:creationId xmlns:a16="http://schemas.microsoft.com/office/drawing/2014/main" id="{81F4A28B-8F87-46F4-998B-C8F8E90A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Agent Skills 把方法写成执行步骤</a:t>
            </a:r>
          </a:p>
        </p:txBody>
      </p:sp>
      <p:sp>
        <p:nvSpPr>
          <p:cNvPr id="2" name="7 个自研领域方法包">
            <a:extLst xmlns:a="http://schemas.openxmlformats.org/drawingml/2006/main">
              <a:ext uri="{FF2B5EF4-FFF2-40B4-BE49-F238E27FC236}">
                <a16:creationId xmlns:a16="http://schemas.microsoft.com/office/drawing/2014/main" id="{260D8B70-623B-4CE4-81C6-8C79332A1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85900"/>
            <a:ext cx="5095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7 个自研领域方法包</a:t>
            </a:r>
          </a:p>
        </p:txBody>
      </p:sp>
      <p:sp>
        <p:nvSpPr>
          <p:cNvPr id="3" name="任务和补拍路由">
            <a:extLst xmlns:a="http://schemas.openxmlformats.org/drawingml/2006/main">
              <a:ext uri="{FF2B5EF4-FFF2-40B4-BE49-F238E27FC236}">
                <a16:creationId xmlns:a16="http://schemas.microsoft.com/office/drawing/2014/main" id="{6BC32810-8EFC-4071-B535-795F204F7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336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任务和补拍路由</a:t>
            </a:r>
          </a:p>
        </p:txBody>
      </p:sp>
      <p:sp>
        <p:nvSpPr>
          <p:cNvPr id="4" name="确认任务和缺失部位">
            <a:extLst xmlns:a="http://schemas.openxmlformats.org/drawingml/2006/main">
              <a:ext uri="{FF2B5EF4-FFF2-40B4-BE49-F238E27FC236}">
                <a16:creationId xmlns:a16="http://schemas.microsoft.com/office/drawing/2014/main" id="{A3B53EDD-5EEB-427C-873D-56BF007C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13360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确认任务和缺失部位</a:t>
            </a:r>
          </a:p>
        </p:txBody>
      </p:sp>
      <p:sp>
        <p:nvSpPr>
          <p:cNvPr id="5" name="陶瓷编目研究">
            <a:extLst xmlns:a="http://schemas.openxmlformats.org/drawingml/2006/main">
              <a:ext uri="{FF2B5EF4-FFF2-40B4-BE49-F238E27FC236}">
                <a16:creationId xmlns:a16="http://schemas.microsoft.com/office/drawing/2014/main" id="{42CFB216-884D-4318-8838-EE0A8D23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574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陶瓷编目研究</a:t>
            </a:r>
          </a:p>
        </p:txBody>
      </p:sp>
      <p:sp>
        <p:nvSpPr>
          <p:cNvPr id="6" name="分开观察、记载和主张">
            <a:extLst xmlns:a="http://schemas.openxmlformats.org/drawingml/2006/main">
              <a:ext uri="{FF2B5EF4-FFF2-40B4-BE49-F238E27FC236}">
                <a16:creationId xmlns:a16="http://schemas.microsoft.com/office/drawing/2014/main" id="{96C02A21-A293-4178-81E1-F83C5F9D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65747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分开观察、记载和主张</a:t>
            </a:r>
          </a:p>
        </p:txBody>
      </p:sp>
      <p:sp>
        <p:nvSpPr>
          <p:cNvPr id="7" name="青花比较研究">
            <a:extLst xmlns:a="http://schemas.openxmlformats.org/drawingml/2006/main">
              <a:ext uri="{FF2B5EF4-FFF2-40B4-BE49-F238E27FC236}">
                <a16:creationId xmlns:a16="http://schemas.microsoft.com/office/drawing/2014/main" id="{2AA1B3DC-6E6B-4494-90CE-3B5098F02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813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青花比较研究</a:t>
            </a:r>
          </a:p>
        </p:txBody>
      </p:sp>
      <p:sp>
        <p:nvSpPr>
          <p:cNvPr id="8" name="记录反例和竞争解释">
            <a:extLst xmlns:a="http://schemas.openxmlformats.org/drawingml/2006/main">
              <a:ext uri="{FF2B5EF4-FFF2-40B4-BE49-F238E27FC236}">
                <a16:creationId xmlns:a16="http://schemas.microsoft.com/office/drawing/2014/main" id="{CA2B8EBA-7BAE-4DCB-9418-643BA7CB9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1813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记录反例和竞争解释</a:t>
            </a:r>
          </a:p>
        </p:txBody>
      </p:sp>
      <p:sp>
        <p:nvSpPr>
          <p:cNvPr id="9" name="状况竞争解释">
            <a:extLst xmlns:a="http://schemas.openxmlformats.org/drawingml/2006/main">
              <a:ext uri="{FF2B5EF4-FFF2-40B4-BE49-F238E27FC236}">
                <a16:creationId xmlns:a16="http://schemas.microsoft.com/office/drawing/2014/main" id="{9CC3CF55-9FCB-466B-92C9-5FAAFD480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05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状况竞争解释</a:t>
            </a:r>
          </a:p>
        </p:txBody>
      </p:sp>
      <p:sp>
        <p:nvSpPr>
          <p:cNvPr id="10" name="提出可检查的假说">
            <a:extLst xmlns:a="http://schemas.openxmlformats.org/drawingml/2006/main">
              <a:ext uri="{FF2B5EF4-FFF2-40B4-BE49-F238E27FC236}">
                <a16:creationId xmlns:a16="http://schemas.microsoft.com/office/drawing/2014/main" id="{02AE1FF7-65F5-4ED1-9E8E-ED903CCEB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70522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提出可检查的假说</a:t>
            </a:r>
          </a:p>
        </p:txBody>
      </p:sp>
      <p:sp>
        <p:nvSpPr>
          <p:cNvPr id="11" name="来源经历核查">
            <a:extLst xmlns:a="http://schemas.openxmlformats.org/drawingml/2006/main">
              <a:ext uri="{FF2B5EF4-FFF2-40B4-BE49-F238E27FC236}">
                <a16:creationId xmlns:a16="http://schemas.microsoft.com/office/drawing/2014/main" id="{C580D601-A2C4-4DB8-BC7A-D8434AC24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291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来源经历核查</a:t>
            </a:r>
          </a:p>
        </p:txBody>
      </p:sp>
      <p:sp>
        <p:nvSpPr>
          <p:cNvPr id="12" name="核对事件和本件凭据">
            <a:extLst xmlns:a="http://schemas.openxmlformats.org/drawingml/2006/main">
              <a:ext uri="{FF2B5EF4-FFF2-40B4-BE49-F238E27FC236}">
                <a16:creationId xmlns:a16="http://schemas.microsoft.com/office/drawing/2014/main" id="{58B87D65-964F-42F2-A91C-3BF9DA3C0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2910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核对事件和本件凭据</a:t>
            </a:r>
          </a:p>
        </p:txBody>
      </p:sp>
      <p:sp>
        <p:nvSpPr>
          <p:cNvPr id="13" name="文字凭据核查">
            <a:extLst xmlns:a="http://schemas.openxmlformats.org/drawingml/2006/main">
              <a:ext uri="{FF2B5EF4-FFF2-40B4-BE49-F238E27FC236}">
                <a16:creationId xmlns:a16="http://schemas.microsoft.com/office/drawing/2014/main" id="{1D08AD8B-4CA2-4A47-9602-6DCE0AB5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7529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文字凭据核查</a:t>
            </a:r>
          </a:p>
        </p:txBody>
      </p:sp>
      <p:sp>
        <p:nvSpPr>
          <p:cNvPr id="14" name="分列相符、冲突和缺失">
            <a:extLst xmlns:a="http://schemas.openxmlformats.org/drawingml/2006/main">
              <a:ext uri="{FF2B5EF4-FFF2-40B4-BE49-F238E27FC236}">
                <a16:creationId xmlns:a16="http://schemas.microsoft.com/office/drawing/2014/main" id="{13B5C8AD-277A-4EEF-87B6-0723411A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75297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分列相符、冲突和缺失</a:t>
            </a:r>
          </a:p>
        </p:txBody>
      </p:sp>
      <p:sp>
        <p:nvSpPr>
          <p:cNvPr id="15" name="补证和版本修订">
            <a:extLst xmlns:a="http://schemas.openxmlformats.org/drawingml/2006/main">
              <a:ext uri="{FF2B5EF4-FFF2-40B4-BE49-F238E27FC236}">
                <a16:creationId xmlns:a16="http://schemas.microsoft.com/office/drawing/2014/main" id="{83CAB29F-50E1-4AE2-86FE-AFF1F503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768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补证和版本修订</a:t>
            </a:r>
          </a:p>
        </p:txBody>
      </p:sp>
      <p:sp>
        <p:nvSpPr>
          <p:cNvPr id="16" name="解释新证据改变了什么">
            <a:extLst xmlns:a="http://schemas.openxmlformats.org/drawingml/2006/main">
              <a:ext uri="{FF2B5EF4-FFF2-40B4-BE49-F238E27FC236}">
                <a16:creationId xmlns:a16="http://schemas.microsoft.com/office/drawing/2014/main" id="{F4E4FCBE-21A5-43E9-B602-C68F066E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768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解释新证据改变了什么</a:t>
            </a:r>
          </a:p>
        </p:txBody>
      </p:sp>
      <p:sp>
        <p:nvSpPr>
          <p:cNvPr id="17" name="发现描述">
            <a:extLst xmlns:a="http://schemas.openxmlformats.org/drawingml/2006/main">
              <a:ext uri="{FF2B5EF4-FFF2-40B4-BE49-F238E27FC236}">
                <a16:creationId xmlns:a16="http://schemas.microsoft.com/office/drawing/2014/main" id="{B8D6D1E3-9397-4479-A4BA-C29E166A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24025"/>
            <a:ext cx="16192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发现描述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先选适用方法</a:t>
            </a:r>
          </a:p>
        </p:txBody>
      </p:sp>
      <p:sp>
        <p:nvSpPr>
          <p:cNvPr id="18" name="读取正文">
            <a:extLst xmlns:a="http://schemas.openxmlformats.org/drawingml/2006/main">
              <a:ext uri="{FF2B5EF4-FFF2-40B4-BE49-F238E27FC236}">
                <a16:creationId xmlns:a16="http://schemas.microsoft.com/office/drawing/2014/main" id="{6F22D797-3A52-4D35-AB18-E18FBA2C1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724025"/>
            <a:ext cx="16192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读取正文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执行研究步骤</a:t>
            </a:r>
          </a:p>
        </p:txBody>
      </p:sp>
      <p:sp>
        <p:nvSpPr>
          <p:cNvPr id="19" name="按需资源">
            <a:extLst xmlns:a="http://schemas.openxmlformats.org/drawingml/2006/main">
              <a:ext uri="{FF2B5EF4-FFF2-40B4-BE49-F238E27FC236}">
                <a16:creationId xmlns:a16="http://schemas.microsoft.com/office/drawing/2014/main" id="{AE9C5F43-F09D-45E6-A0B7-265F072CD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1724025"/>
            <a:ext cx="16192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按需资源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参考和检查</a:t>
            </a:r>
          </a:p>
        </p:txBody>
      </p:sp>
      <p:cxnSp>
        <p:nvCxnSpPr>
          <p:cNvPr id="49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905750" y="2252663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8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9696450" y="2252663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sp>
        <p:nvSpPr>
          <p:cNvPr id="22" name="版本可回放">
            <a:extLst xmlns:a="http://schemas.openxmlformats.org/drawingml/2006/main">
              <a:ext uri="{FF2B5EF4-FFF2-40B4-BE49-F238E27FC236}">
                <a16:creationId xmlns:a16="http://schemas.microsoft.com/office/drawing/2014/main" id="{3FD2D752-751D-4D4C-8406-24373B7B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267075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版本可回放</a:t>
            </a:r>
          </a:p>
        </p:txBody>
      </p:sp>
      <p:sp>
        <p:nvSpPr>
          <p:cNvPr id="23" name="整包 SHA 固定实际采用的方法和资源">
            <a:extLst xmlns:a="http://schemas.openxmlformats.org/drawingml/2006/main">
              <a:ext uri="{FF2B5EF4-FFF2-40B4-BE49-F238E27FC236}">
                <a16:creationId xmlns:a16="http://schemas.microsoft.com/office/drawing/2014/main" id="{17D39EA3-D319-4DC0-B0EE-1A7E0B32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70522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整包 SHA 固定实际采用的方法和资源</a:t>
            </a:r>
          </a:p>
        </p:txBody>
      </p:sp>
      <p:sp>
        <p:nvSpPr>
          <p:cNvPr id="24" name="权限由宿主执行">
            <a:extLst xmlns:a="http://schemas.openxmlformats.org/drawingml/2006/main">
              <a:ext uri="{FF2B5EF4-FFF2-40B4-BE49-F238E27FC236}">
                <a16:creationId xmlns:a16="http://schemas.microsoft.com/office/drawing/2014/main" id="{088AB1FD-F406-4E3D-BDC0-ADE8AE64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10050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权限由宿主执行</a:t>
            </a:r>
          </a:p>
        </p:txBody>
      </p:sp>
      <p:sp>
        <p:nvSpPr>
          <p:cNvPr id="25" name="注册工具、真实读回执和累计预算共同约束">
            <a:extLst xmlns:a="http://schemas.openxmlformats.org/drawingml/2006/main">
              <a:ext uri="{FF2B5EF4-FFF2-40B4-BE49-F238E27FC236}">
                <a16:creationId xmlns:a16="http://schemas.microsoft.com/office/drawing/2014/main" id="{22C205CF-4DB8-442A-A450-1B3A639B4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48200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注册工具、真实读回执和累计预算共同约束</a:t>
            </a:r>
          </a:p>
        </p:txBody>
      </p:sp>
      <p:sp>
        <p:nvSpPr>
          <p:cNvPr id="26" name="意见对应证据">
            <a:extLst xmlns:a="http://schemas.openxmlformats.org/drawingml/2006/main">
              <a:ext uri="{FF2B5EF4-FFF2-40B4-BE49-F238E27FC236}">
                <a16:creationId xmlns:a16="http://schemas.microsoft.com/office/drawing/2014/main" id="{AF5B56CA-C5A7-4971-B145-BFB4DFEAB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53025"/>
            <a:ext cx="5219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意见对应证据</a:t>
            </a:r>
          </a:p>
        </p:txBody>
      </p:sp>
      <p:sp>
        <p:nvSpPr>
          <p:cNvPr id="27" name="本轮观察编号和实际阅读段落绑定">
            <a:extLst xmlns:a="http://schemas.openxmlformats.org/drawingml/2006/main">
              <a:ext uri="{FF2B5EF4-FFF2-40B4-BE49-F238E27FC236}">
                <a16:creationId xmlns:a16="http://schemas.microsoft.com/office/drawing/2014/main" id="{42E9F1DA-41D6-4797-8DBF-C4679397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91175"/>
            <a:ext cx="5219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本轮观察编号和实际阅读段落绑定</a:t>
            </a:r>
          </a:p>
        </p:txBody>
      </p:sp>
      <p:sp>
        <p:nvSpPr>
          <p:cNvPr id="28" name="领域包由项目开发，专业方法效果将在同模型、同预算评测中验证">
            <a:extLst xmlns:a="http://schemas.openxmlformats.org/drawingml/2006/main">
              <a:ext uri="{FF2B5EF4-FFF2-40B4-BE49-F238E27FC236}">
                <a16:creationId xmlns:a16="http://schemas.microsoft.com/office/drawing/2014/main" id="{DC91886F-D7C9-4AEF-88CA-B5AD2A9F6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53150"/>
            <a:ext cx="1066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领域包由项目开发，专业方法效果将在同模型、同预算评测中验证</a:t>
            </a:r>
          </a:p>
        </p:txBody>
      </p:sp>
      <p:sp>
        <p:nvSpPr>
          <p:cNvPr id="29" name="05">
            <a:extLst xmlns:a="http://schemas.openxmlformats.org/drawingml/2006/main">
              <a:ext uri="{FF2B5EF4-FFF2-40B4-BE49-F238E27FC236}">
                <a16:creationId xmlns:a16="http://schemas.microsoft.com/office/drawing/2014/main" id="{C1464281-5E4D-49F8-B17E-1A5DC7C5A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942880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本地证据和受控模型协作">
            <a:extLst xmlns:a="http://schemas.openxmlformats.org/drawingml/2006/main">
              <a:ext uri="{FF2B5EF4-FFF2-40B4-BE49-F238E27FC236}">
                <a16:creationId xmlns:a16="http://schemas.microsoft.com/office/drawing/2014/main" id="{5D721DCD-1FA7-48AD-8986-76F0C0CB8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本地证据和受控模型协作</a:t>
            </a:r>
          </a:p>
        </p:txBody>
      </p:sp>
      <p:sp>
        <p:nvSpPr>
          <p:cNvPr id="2" name="原图和案卷留在 Spark，外部审查只使用批准文字">
            <a:extLst xmlns:a="http://schemas.openxmlformats.org/drawingml/2006/main">
              <a:ext uri="{FF2B5EF4-FFF2-40B4-BE49-F238E27FC236}">
                <a16:creationId xmlns:a16="http://schemas.microsoft.com/office/drawing/2014/main" id="{CA0287EF-5AF8-4BB3-A2E2-9A3218199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38250"/>
            <a:ext cx="1095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原图和案卷留在 Spark，外部审查只使用批准文字</a:t>
            </a:r>
          </a:p>
        </p:txBody>
      </p:sp>
      <p:sp>
        <p:nvSpPr>
          <p:cNvPr id="3" name="本地工作台和DGX Spark边界">
            <a:extLst xmlns:a="http://schemas.openxmlformats.org/drawingml/2006/main">
              <a:ext uri="{FF2B5EF4-FFF2-40B4-BE49-F238E27FC236}">
                <a16:creationId xmlns:a16="http://schemas.microsoft.com/office/drawing/2014/main" id="{A16BAB8E-DA1D-4C62-BAFA-EA920EF0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838325"/>
            <a:ext cx="8858250" cy="385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1430">
            <a:solidFill>
              <a:srgbClr val="C7D5E0"/>
            </a:solidFill>
          </a:ln>
        </p:spPr>
      </p:sp>
      <p:sp>
        <p:nvSpPr>
          <p:cNvPr id="4" name="本地专业工作台和 DGX Spark">
            <a:extLst xmlns:a="http://schemas.openxmlformats.org/drawingml/2006/main">
              <a:ext uri="{FF2B5EF4-FFF2-40B4-BE49-F238E27FC236}">
                <a16:creationId xmlns:a16="http://schemas.microsoft.com/office/drawing/2014/main" id="{29F76B2B-AF16-41FF-913D-070065059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990725"/>
            <a:ext cx="815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本地专业工作台和 DGX Spark</a:t>
            </a:r>
          </a:p>
        </p:txBody>
      </p:sp>
      <p:sp>
        <p:nvSpPr>
          <p:cNvPr id="5" name="采集和资料">
            <a:extLst xmlns:a="http://schemas.openxmlformats.org/drawingml/2006/main">
              <a:ext uri="{FF2B5EF4-FFF2-40B4-BE49-F238E27FC236}">
                <a16:creationId xmlns:a16="http://schemas.microsoft.com/office/drawing/2014/main" id="{C0979C2D-9BAC-47D6-A7CD-523CE8BBB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180975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采集和资料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原图和许可文字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网页和本机桥接</a:t>
            </a:r>
          </a:p>
        </p:txBody>
      </p:sp>
      <p:sp>
        <p:nvSpPr>
          <p:cNvPr id="6" name="版本化案卷">
            <a:extLst xmlns:a="http://schemas.openxmlformats.org/drawingml/2006/main">
              <a:ext uri="{FF2B5EF4-FFF2-40B4-BE49-F238E27FC236}">
                <a16:creationId xmlns:a16="http://schemas.microsoft.com/office/drawing/2014/main" id="{9B450A9C-197F-4964-ABD2-FAB3BE82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590800"/>
            <a:ext cx="24384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版本化案卷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原件 SHA 和来源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固定资料版本</a:t>
            </a:r>
          </a:p>
        </p:txBody>
      </p:sp>
      <p:sp>
        <p:nvSpPr>
          <p:cNvPr id="7" name="研究 Agent 宿主">
            <a:extLst xmlns:a="http://schemas.openxmlformats.org/drawingml/2006/main">
              <a:ext uri="{FF2B5EF4-FFF2-40B4-BE49-F238E27FC236}">
                <a16:creationId xmlns:a16="http://schemas.microsoft.com/office/drawing/2014/main" id="{38F01FE7-DC0B-4795-9F4E-FA9AC4C2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590800"/>
            <a:ext cx="24384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研究 Agent 宿主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注册工具和预算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本轮输入资格</a:t>
            </a:r>
          </a:p>
        </p:txBody>
      </p:sp>
      <p:sp>
        <p:nvSpPr>
          <p:cNvPr id="8" name="复核和证据报告">
            <a:extLst xmlns:a="http://schemas.openxmlformats.org/drawingml/2006/main">
              <a:ext uri="{FF2B5EF4-FFF2-40B4-BE49-F238E27FC236}">
                <a16:creationId xmlns:a16="http://schemas.microsoft.com/office/drawing/2014/main" id="{7A4E875A-77FB-4767-A26D-A42453F0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590800"/>
            <a:ext cx="2324100" cy="1190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复核和证据报告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支持、矛盾和缺口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修订 / 离线交接</a:t>
            </a:r>
          </a:p>
        </p:txBody>
      </p:sp>
      <p:sp>
        <p:nvSpPr>
          <p:cNvPr id="9" name="固定知识和引用">
            <a:extLst xmlns:a="http://schemas.openxmlformats.org/drawingml/2006/main">
              <a:ext uri="{FF2B5EF4-FFF2-40B4-BE49-F238E27FC236}">
                <a16:creationId xmlns:a16="http://schemas.microsoft.com/office/drawing/2014/main" id="{86252901-47B9-48D9-BC2E-A79757AD0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352925"/>
            <a:ext cx="2438400" cy="1152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固定知识和引用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实际正文读回执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NAT 核对版本和段落</a:t>
            </a:r>
          </a:p>
        </p:txBody>
      </p:sp>
      <p:sp>
        <p:nvSpPr>
          <p:cNvPr id="10" name="方法和视觉核查">
            <a:extLst xmlns:a="http://schemas.openxmlformats.org/drawingml/2006/main">
              <a:ext uri="{FF2B5EF4-FFF2-40B4-BE49-F238E27FC236}">
                <a16:creationId xmlns:a16="http://schemas.microsoft.com/office/drawing/2014/main" id="{F602BF8D-65C2-41A5-B446-D21049D3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52925"/>
            <a:ext cx="2438400" cy="1152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方法和视觉核查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7 Skills / 8B 主流程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35B / 27B 候选</a:t>
            </a:r>
          </a:p>
        </p:txBody>
      </p:sp>
      <p:sp>
        <p:nvSpPr>
          <p:cNvPr id="11" name="独立已部署服务">
            <a:extLst xmlns:a="http://schemas.openxmlformats.org/drawingml/2006/main">
              <a:ext uri="{FF2B5EF4-FFF2-40B4-BE49-F238E27FC236}">
                <a16:creationId xmlns:a16="http://schemas.microsoft.com/office/drawing/2014/main" id="{C9BBB373-6CE1-4811-848A-17997625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352925"/>
            <a:ext cx="2324100" cy="1152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1E7"/>
          </a:solidFill>
          <a:ln xmlns:a="http://schemas.openxmlformats.org/drawingml/2006/main" w="13335">
            <a:solidFill>
              <a:srgbClr val="AE8B4A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6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独立已部署服务</a:t>
            </a:r>
          </a:p>
          <a:p xmlns:a="http://schemas.openxmlformats.org/drawingml/2006/main">
            <a:pPr algn="l">
              <a:defRPr sz="16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NIM 和 TRT-LLM</a:t>
            </a:r>
          </a:p>
          <a:p xmlns:a="http://schemas.openxmlformats.org/drawingml/2006/main">
            <a:pPr algn="l">
              <a:defRPr sz="16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Embedding + cuVS</a:t>
            </a:r>
          </a:p>
        </p:txBody>
      </p:sp>
      <p:sp>
        <p:nvSpPr>
          <p:cNvPr id="12" name="可选文字审查">
            <a:extLst xmlns:a="http://schemas.openxmlformats.org/drawingml/2006/main">
              <a:ext uri="{FF2B5EF4-FFF2-40B4-BE49-F238E27FC236}">
                <a16:creationId xmlns:a16="http://schemas.microsoft.com/office/drawing/2014/main" id="{59034AB5-65E6-4BA7-8C72-F463AFDB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809750" cy="1152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可选文字审查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StepFun</a:t>
            </a:r>
          </a:p>
          <a:p xmlns:a="http://schemas.openxmlformats.org/drawingml/2006/main">
            <a:pPr algn="l">
              <a:def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step-3.7-flash</a:t>
            </a:r>
          </a:p>
        </p:txBody>
      </p:sp>
      <p:cxnSp>
        <p:nvCxnSpPr>
          <p:cNvPr id="34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419350" y="3186113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35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410200" y="3186113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36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8420100" y="3186113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37" name=""/>
          <p:cNvCxnSpPr>
            <a:stCxn xmlns:a="http://schemas.openxmlformats.org/drawingml/2006/main" id="9" idx="0"/>
            <a:endCxn xmlns:a="http://schemas.openxmlformats.org/drawingml/2006/main" id="6" idx="2"/>
          </p:cNvCxnSpPr>
          <p:nvPr/>
        </p:nvCxnSpPr>
        <p:spPr>
          <a:xfrm xmlns:a="http://schemas.openxmlformats.org/drawingml/2006/main" flipV="1">
            <a:off x="4191000" y="3781425"/>
            <a:ext cx="0" cy="571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38" name=""/>
          <p:cNvCxnSpPr>
            <a:stCxn xmlns:a="http://schemas.openxmlformats.org/drawingml/2006/main" id="10" idx="0"/>
            <a:endCxn xmlns:a="http://schemas.openxmlformats.org/drawingml/2006/main" id="7" idx="2"/>
          </p:cNvCxnSpPr>
          <p:nvPr/>
        </p:nvCxnSpPr>
        <p:spPr>
          <a:xfrm xmlns:a="http://schemas.openxmlformats.org/drawingml/2006/main" flipV="1">
            <a:off x="7200900" y="3781425"/>
            <a:ext cx="0" cy="5715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39" name=""/>
          <p:cNvCxnSpPr>
            <a:stCxn xmlns:a="http://schemas.openxmlformats.org/drawingml/2006/main" id="6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2419350" y="3186113"/>
            <a:ext cx="552450" cy="17430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45B88"/>
            </a:solidFill>
            <a:prstDash val="dash"/>
            <a:headEnd type="triangle" w="sm" len="sm"/>
            <a:tailEnd type="triangle" w="sm" len="sm"/>
          </a:ln>
        </p:spPr>
      </p:cxnSp>
      <p:sp>
        <p:nvSpPr>
          <p:cNvPr id="19" name="批准文字和审查结果">
            <a:extLst xmlns:a="http://schemas.openxmlformats.org/drawingml/2006/main">
              <a:ext uri="{FF2B5EF4-FFF2-40B4-BE49-F238E27FC236}">
                <a16:creationId xmlns:a16="http://schemas.microsoft.com/office/drawing/2014/main" id="{2D9ED325-3B72-4108-BB44-C47CFBE7A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381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批准文字和审查结果</a:t>
            </a:r>
          </a:p>
        </p:txBody>
      </p:sp>
      <p:sp>
        <p:nvSpPr>
          <p:cNvPr id="20" name="主服务保持 8B，较大模型经受控核查后再考虑切换">
            <a:extLst xmlns:a="http://schemas.openxmlformats.org/drawingml/2006/main">
              <a:ext uri="{FF2B5EF4-FFF2-40B4-BE49-F238E27FC236}">
                <a16:creationId xmlns:a16="http://schemas.microsoft.com/office/drawing/2014/main" id="{2EBD404E-6020-479B-A0E8-D8B2FF127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7275" y="5867400"/>
            <a:ext cx="67056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主服务保持 8B，较大模型经受控核查后再考虑切换</a:t>
            </a:r>
          </a:p>
        </p:txBody>
      </p:sp>
      <p:sp>
        <p:nvSpPr>
          <p:cNvPr id="21" name="06">
            <a:extLst xmlns:a="http://schemas.openxmlformats.org/drawingml/2006/main">
              <a:ext uri="{FF2B5EF4-FFF2-40B4-BE49-F238E27FC236}">
                <a16:creationId xmlns:a16="http://schemas.microsoft.com/office/drawing/2014/main" id="{E3E576D5-ACBE-4A8E-BC97-914C8A000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5109425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park 本地部署和模型分工">
            <a:extLst xmlns:a="http://schemas.openxmlformats.org/drawingml/2006/main">
              <a:ext uri="{FF2B5EF4-FFF2-40B4-BE49-F238E27FC236}">
                <a16:creationId xmlns:a16="http://schemas.microsoft.com/office/drawing/2014/main" id="{626CC754-3F1B-4033-AB51-C2687720E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Spark 本地部署和模型分工</a:t>
            </a:r>
          </a:p>
        </p:txBody>
      </p:sp>
      <p:sp>
        <p:nvSpPr>
          <p:cNvPr id="2" name="原件和资料版本固定，模型变更通过受控核查保留记录">
            <a:extLst xmlns:a="http://schemas.openxmlformats.org/drawingml/2006/main">
              <a:ext uri="{FF2B5EF4-FFF2-40B4-BE49-F238E27FC236}">
                <a16:creationId xmlns:a16="http://schemas.microsoft.com/office/drawing/2014/main" id="{627A91C0-F0FF-4BB8-9CE6-386009A6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1085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原件和资料版本固定，模型变更通过受控核查保留记录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28650" y="1800225"/>
          <a:ext xmlns:a="http://schemas.openxmlformats.org/drawingml/2006/main" cx="10934700" cy="42005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86000"/>
                <a:gridCol w="4467225"/>
                <a:gridCol w="4181475"/>
              </a:tblGrid>
              <a:tr h="485775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工作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实际实现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接入位置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</a:tr>
              <a:tr h="7429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案卷主视觉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Qwen3-VL-8B</a:t>
                      </a:r>
                    </a:p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PyTorch / BF16 / CUDA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多图和区域研究主流程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较大视觉模型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35B / 27B 视觉候选</a:t>
                      </a:r>
                    </a:p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NIM（SGLang 后端）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已完成独立案卷核查</a:t>
                      </a:r>
                    </a:p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主服务保持 8B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领域方法和引用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 个 Agent Skills</a:t>
                      </a:r>
                    </a:p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NeMo Agent Toolkit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方法执行和引用身份核查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本地文字推理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NIM / Qwen3-4B</a:t>
                      </a:r>
                    </a:p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TensorRT-LLM / Qwen3-4B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已部署独立文字端点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语义资料检索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官方 Embedding 1B v2</a:t>
                      </a:r>
                    </a:p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cuVS CUDA 索引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独立检索已实测</a:t>
                      </a:r>
                    </a:p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主案卷仍使用 SQLite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候选均未设为默认，27B 原始权重和进程的关联待补验">
            <a:extLst xmlns:a="http://schemas.openxmlformats.org/drawingml/2006/main">
              <a:ext uri="{FF2B5EF4-FFF2-40B4-BE49-F238E27FC236}">
                <a16:creationId xmlns:a16="http://schemas.microsoft.com/office/drawing/2014/main" id="{89E104B7-4F11-469C-B5EE-BA9688083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91250"/>
            <a:ext cx="10382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候选均未设为默认，27B 原始权重和进程的关联待补验</a:t>
            </a:r>
          </a:p>
        </p:txBody>
      </p:sp>
      <p:sp>
        <p:nvSpPr>
          <p:cNvPr id="5" name="07">
            <a:extLst xmlns:a="http://schemas.openxmlformats.org/drawingml/2006/main">
              <a:ext uri="{FF2B5EF4-FFF2-40B4-BE49-F238E27FC236}">
                <a16:creationId xmlns:a16="http://schemas.microsoft.com/office/drawing/2014/main" id="{1B7A3082-8FBB-4E67-B811-5D84D808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7910110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六维矛盾筛查：先安排复核工作">
            <a:extLst xmlns:a="http://schemas.openxmlformats.org/drawingml/2006/main">
              <a:ext uri="{FF2B5EF4-FFF2-40B4-BE49-F238E27FC236}">
                <a16:creationId xmlns:a16="http://schemas.microsoft.com/office/drawing/2014/main" id="{3D3DFFC8-6237-4EC4-A5E6-638D69C08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六维矛盾筛查：先安排复核工作</a:t>
            </a:r>
          </a:p>
        </p:txBody>
      </p:sp>
      <p:sp>
        <p:nvSpPr>
          <p:cNvPr id="2" name="本地规则比较已保存记载，每个提示都给出下一项补证">
            <a:extLst xmlns:a="http://schemas.openxmlformats.org/drawingml/2006/main">
              <a:ext uri="{FF2B5EF4-FFF2-40B4-BE49-F238E27FC236}">
                <a16:creationId xmlns:a16="http://schemas.microsoft.com/office/drawing/2014/main" id="{0D8A41D1-E0F1-4F07-96CF-2F518117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4777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本地规则比较已保存记载，每个提示都给出下一项补证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a1c84858c4f1e"/>
          <a:srcRect xmlns:a="http://schemas.openxmlformats.org/drawingml/2006/main" l="16670" t="11900" r="19440" b="57500"/>
          <a:stretch xmlns:a="http://schemas.openxmlformats.org/drawingml/2006/main"/>
        </p:blipFill>
        <p:spPr>
          <a:xfrm xmlns:a="http://schemas.openxmlformats.org/drawingml/2006/main">
            <a:off x="628650" y="1885950"/>
            <a:ext cx="7124700" cy="2952750"/>
          </a:xfrm>
          <a:prstGeom xmlns:a="http://schemas.openxmlformats.org/drawingml/2006/main" prst="rect">
            <a:avLst/>
          </a:prstGeom>
        </p:spPr>
      </p:pic>
      <p:graphicFrame>
        <p:nvGraphicFramePr>
          <p:cNvPr id="13" name=""/>
          <p:cNvGraphicFramePr/>
          <p:nvPr/>
        </p:nvGraphicFramePr>
        <p:xfrm>
          <a:off xmlns:a="http://schemas.openxmlformats.org/drawingml/2006/main" x="8172450" y="1885950"/>
          <a:ext xmlns:a="http://schemas.openxmlformats.org/drawingml/2006/main" cx="3314700" cy="35433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66950"/>
                <a:gridCol w="1047750"/>
              </a:tblGrid>
              <a:tr h="41910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维度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权重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制作时期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窑口归属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装饰风格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来源对应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状况和修复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采集完整性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32D49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合计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132D49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100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矛盾＝冲突权重">
            <a:extLst xmlns:a="http://schemas.openxmlformats.org/drawingml/2006/main">
              <a:ext uri="{FF2B5EF4-FFF2-40B4-BE49-F238E27FC236}">
                <a16:creationId xmlns:a16="http://schemas.microsoft.com/office/drawing/2014/main" id="{A9F06258-28B0-4BDD-9CA9-7380B9CAD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67300"/>
            <a:ext cx="7124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矛盾＝冲突权重</a:t>
            </a:r>
          </a:p>
        </p:txBody>
      </p:sp>
      <p:sp>
        <p:nvSpPr>
          <p:cNvPr id="6" name="复核优先＝冲突权重 + 0.5 × 未知权重">
            <a:extLst xmlns:a="http://schemas.openxmlformats.org/drawingml/2006/main">
              <a:ext uri="{FF2B5EF4-FFF2-40B4-BE49-F238E27FC236}">
                <a16:creationId xmlns:a16="http://schemas.microsoft.com/office/drawing/2014/main" id="{825C793A-92A5-468F-A038-B02DEE44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95925"/>
            <a:ext cx="71247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C334B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1C334B"/>
                </a:solidFill>
                <a:latin typeface="Hiragino Sans GB"/>
                <a:ea typeface="Hiragino Sans GB"/>
                <a:cs typeface="Hiragino Sans GB"/>
              </a:rPr>
              <a:t>复核优先＝冲突权重 + 0.5 × 未知权重</a:t>
            </a:r>
          </a:p>
        </p:txBody>
      </p:sp>
      <p:sp>
        <p:nvSpPr>
          <p:cNvPr id="7" name="覆盖＝已评价权重 / 100&#10;未知状态单列">
            <a:extLst xmlns:a="http://schemas.openxmlformats.org/drawingml/2006/main">
              <a:ext uri="{FF2B5EF4-FFF2-40B4-BE49-F238E27FC236}">
                <a16:creationId xmlns:a16="http://schemas.microsoft.com/office/drawing/2014/main" id="{8980423D-28A9-43C9-B5BE-9A0747790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638800"/>
            <a:ext cx="331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覆盖＝已评价权重 / 100</a:t>
            </a:r>
          </a:p>
          <a:p xmlns:a="http://schemas.openxmlformats.org/drawingml/2006/main">
            <a:pPr algn="l">
              <a:def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未知状态单列</a:t>
            </a:r>
          </a:p>
        </p:txBody>
      </p:sp>
      <p:sp>
        <p:nvSpPr>
          <p:cNvPr id="8" name="指数用于工作排序，非真品率或置信度。图中高度矛盾来自明确标记的合成协议练习">
            <a:extLst xmlns:a="http://schemas.openxmlformats.org/drawingml/2006/main">
              <a:ext uri="{FF2B5EF4-FFF2-40B4-BE49-F238E27FC236}">
                <a16:creationId xmlns:a16="http://schemas.microsoft.com/office/drawing/2014/main" id="{C4AC5CE6-A918-41C3-9923-98138C5C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34100"/>
            <a:ext cx="10858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指数用于工作排序，非真品率或置信度。图中高度矛盾来自明确标记的合成协议练习</a:t>
            </a:r>
          </a:p>
        </p:txBody>
      </p:sp>
      <p:sp>
        <p:nvSpPr>
          <p:cNvPr id="9" name="08">
            <a:extLst xmlns:a="http://schemas.openxmlformats.org/drawingml/2006/main">
              <a:ext uri="{FF2B5EF4-FFF2-40B4-BE49-F238E27FC236}">
                <a16:creationId xmlns:a16="http://schemas.microsoft.com/office/drawing/2014/main" id="{6EE0E8DD-8B7E-4025-A243-D4EAA8992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5245026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证据缺口决定下一项拍摄">
            <a:extLst xmlns:a="http://schemas.openxmlformats.org/drawingml/2006/main">
              <a:ext uri="{FF2B5EF4-FFF2-40B4-BE49-F238E27FC236}">
                <a16:creationId xmlns:a16="http://schemas.microsoft.com/office/drawing/2014/main" id="{3DB58326-B382-4092-8451-936E6C02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证据缺口决定下一项拍摄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7c82e44c5440f5"/>
          <a:stretch xmlns:a="http://schemas.openxmlformats.org/drawingml/2006/main"/>
        </p:blipFill>
        <p:spPr>
          <a:xfrm xmlns:a="http://schemas.openxmlformats.org/drawingml/2006/main">
            <a:off x="911225" y="1552575"/>
            <a:ext cx="2730500" cy="4095750"/>
          </a:xfrm>
          <a:prstGeom xmlns:a="http://schemas.openxmlformats.org/drawingml/2006/main" prst="rect">
            <a:avLst/>
          </a:prstGeom>
        </p:spPr>
      </p:pic>
      <p:sp>
        <p:nvSpPr>
          <p:cNvPr id="3" name="两张整体图还留下什么？">
            <a:extLst xmlns:a="http://schemas.openxmlformats.org/drawingml/2006/main">
              <a:ext uri="{FF2B5EF4-FFF2-40B4-BE49-F238E27FC236}">
                <a16:creationId xmlns:a16="http://schemas.microsoft.com/office/drawing/2014/main" id="{A52F3D5E-A496-4B18-BBDD-7443806E9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1628775"/>
            <a:ext cx="7029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两张整体图还留下什么？</a:t>
            </a:r>
          </a:p>
        </p:txBody>
      </p:sp>
      <p:sp>
        <p:nvSpPr>
          <p:cNvPr id="4" name="底足、款识和修复细节需要对应照片或实物检查">
            <a:extLst xmlns:a="http://schemas.openxmlformats.org/drawingml/2006/main">
              <a:ext uri="{FF2B5EF4-FFF2-40B4-BE49-F238E27FC236}">
                <a16:creationId xmlns:a16="http://schemas.microsoft.com/office/drawing/2014/main" id="{45086598-1B3C-4CD8-908E-25CB2A27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181225"/>
            <a:ext cx="7029450" cy="733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底足、款识和修复细节需要对应照片或实物检查</a:t>
            </a:r>
          </a:p>
        </p:txBody>
      </p:sp>
      <p:sp>
        <p:nvSpPr>
          <p:cNvPr id="5" name="本轮证据缺口">
            <a:extLst xmlns:a="http://schemas.openxmlformats.org/drawingml/2006/main">
              <a:ext uri="{FF2B5EF4-FFF2-40B4-BE49-F238E27FC236}">
                <a16:creationId xmlns:a16="http://schemas.microsoft.com/office/drawing/2014/main" id="{AD8BAFC8-391E-474F-A4E7-B2541C1E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343275"/>
            <a:ext cx="21050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本轮证据缺口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缺失部位和原因</a:t>
            </a:r>
          </a:p>
        </p:txBody>
      </p:sp>
      <p:sp>
        <p:nvSpPr>
          <p:cNvPr id="6" name="下一项补拍">
            <a:extLst xmlns:a="http://schemas.openxmlformats.org/drawingml/2006/main">
              <a:ext uri="{FF2B5EF4-FFF2-40B4-BE49-F238E27FC236}">
                <a16:creationId xmlns:a16="http://schemas.microsoft.com/office/drawing/2014/main" id="{A606495D-B25A-4A49-943E-ADBFE9FA4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43275"/>
            <a:ext cx="21050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下一项补拍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视角、条件和尺度</a:t>
            </a:r>
          </a:p>
        </p:txBody>
      </p:sp>
      <p:sp>
        <p:nvSpPr>
          <p:cNvPr id="7" name="新原件和版本">
            <a:extLst xmlns:a="http://schemas.openxmlformats.org/drawingml/2006/main">
              <a:ext uri="{FF2B5EF4-FFF2-40B4-BE49-F238E27FC236}">
                <a16:creationId xmlns:a16="http://schemas.microsoft.com/office/drawing/2014/main" id="{616D3499-0C35-41D1-BD62-D200C9B4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343275"/>
            <a:ext cx="2105025" cy="1114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4F8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新原件和版本</a:t>
            </a:r>
          </a:p>
          <a:p xmlns:a="http://schemas.openxmlformats.org/drawingml/2006/main">
            <a:pPr algn="l">
              <a:def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回查发生的变化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610350" y="3900488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22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039225" y="3900488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sp>
        <p:nvSpPr>
          <p:cNvPr id="10" name="已实现">
            <a:extLst xmlns:a="http://schemas.openxmlformats.org/drawingml/2006/main">
              <a:ext uri="{FF2B5EF4-FFF2-40B4-BE49-F238E27FC236}">
                <a16:creationId xmlns:a16="http://schemas.microsoft.com/office/drawing/2014/main" id="{A9CE795B-78A1-46BD-96B2-B6BD7895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953000"/>
            <a:ext cx="1543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已实现</a:t>
            </a:r>
          </a:p>
        </p:txBody>
      </p:sp>
      <p:sp>
        <p:nvSpPr>
          <p:cNvPr id="11" name="采集桥接、原件 SHA、设备声明和归档回执&#10;公开图的真实 HTTP 往返核验保持原字节一">
            <a:extLst xmlns:a="http://schemas.openxmlformats.org/drawingml/2006/main">
              <a:ext uri="{FF2B5EF4-FFF2-40B4-BE49-F238E27FC236}">
                <a16:creationId xmlns:a16="http://schemas.microsoft.com/office/drawing/2014/main" id="{1539C44E-C1EC-4AB8-80F0-69AD5B68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953000"/>
            <a:ext cx="5334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采集桥接、原件 SHA、设备声明和归档回执</a:t>
            </a:r>
          </a:p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公开图的真实 HTTP 往返核验保持原字节一致</a:t>
            </a:r>
          </a:p>
        </p:txBody>
      </p:sp>
      <p:sp>
        <p:nvSpPr>
          <p:cNvPr id="12" name="受控光线、多视角、色卡和比例尺进入后续采集研究。眼镜 SDK、桌面箱和标定仍待开发">
            <a:extLst xmlns:a="http://schemas.openxmlformats.org/drawingml/2006/main">
              <a:ext uri="{FF2B5EF4-FFF2-40B4-BE49-F238E27FC236}">
                <a16:creationId xmlns:a16="http://schemas.microsoft.com/office/drawing/2014/main" id="{07E1326F-C487-4BA7-9F4D-A0557C78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057900"/>
            <a:ext cx="108585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受控光线、多视角、色卡和比例尺进入后续采集研究。眼镜 SDK、桌面箱和标定仍待开发</a:t>
            </a:r>
          </a:p>
        </p:txBody>
      </p:sp>
      <p:sp>
        <p:nvSpPr>
          <p:cNvPr id="13" name="09">
            <a:extLst xmlns:a="http://schemas.openxmlformats.org/drawingml/2006/main">
              <a:ext uri="{FF2B5EF4-FFF2-40B4-BE49-F238E27FC236}">
                <a16:creationId xmlns:a16="http://schemas.microsoft.com/office/drawing/2014/main" id="{D61E8A8B-271E-4303-B85A-4EA0A190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157781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专业试用的交付和采用方式">
            <a:extLst xmlns:a="http://schemas.openxmlformats.org/drawingml/2006/main">
              <a:ext uri="{FF2B5EF4-FFF2-40B4-BE49-F238E27FC236}">
                <a16:creationId xmlns:a16="http://schemas.microsoft.com/office/drawing/2014/main" id="{E1B8B4C6-47B3-4D27-BBF6-ACCD7CF11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专业试用的交付和采用方式</a:t>
            </a:r>
          </a:p>
        </p:txBody>
      </p:sp>
      <p:sp>
        <p:nvSpPr>
          <p:cNvPr id="2" name="从一件器物的材料整理开始，验证交接是否真正可用">
            <a:extLst xmlns:a="http://schemas.openxmlformats.org/drawingml/2006/main">
              <a:ext uri="{FF2B5EF4-FFF2-40B4-BE49-F238E27FC236}">
                <a16:creationId xmlns:a16="http://schemas.microsoft.com/office/drawing/2014/main" id="{F130DC85-3698-4F80-9DED-D25FD4A24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从一件器物的材料整理开始，验证交接是否真正可用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28650" y="2066925"/>
          <a:ext xmlns:a="http://schemas.openxmlformats.org/drawingml/2006/main" cx="10934700" cy="3324225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71725"/>
                <a:gridCol w="5248275"/>
                <a:gridCol w="3314700"/>
              </a:tblGrid>
              <a:tr h="495300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工作入口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交付的案卷材料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拟议试用起点</a:t>
                      </a:r>
                    </a:p>
                  </a:txBody>
                  <a:tcPr marL="91440" marR="91440" marT="45720" marB="45720" anchor="ctr">
                    <a:solidFill>
                      <a:srgbClr val="132D49"/>
                    </a:solidFill>
                  </a:tcPr>
                </a:tc>
              </a:tr>
              <a:tr h="942975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博物馆编目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原图、区域观察</a:t>
                      </a:r>
                    </a:p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固定文献和修订档案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先整理一件器物材料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收藏档案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来源事件和对应凭据</a:t>
                      </a:r>
                    </a:p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跨时间状况记录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先核对一条来源链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942975"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拍卖图录准备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归属措辞、状况记录</a:t>
                      </a:r>
                    </a:p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待补证和离线交接包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133350" tIns="85725" rIns="13335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C334B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先复核一份描述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商业验证计划">
            <a:extLst xmlns:a="http://schemas.openxmlformats.org/drawingml/2006/main">
              <a:ext uri="{FF2B5EF4-FFF2-40B4-BE49-F238E27FC236}">
                <a16:creationId xmlns:a16="http://schemas.microsoft.com/office/drawing/2014/main" id="{E2E97FB1-1784-4317-879C-FB099488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781675"/>
            <a:ext cx="304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商业验证计划</a:t>
            </a:r>
          </a:p>
        </p:txBody>
      </p:sp>
      <p:sp>
        <p:nvSpPr>
          <p:cNvPr id="5" name="以整理时间、疑点遗漏和复核可用性评价试用，探索本地部署和服务订阅">
            <a:extLst xmlns:a="http://schemas.openxmlformats.org/drawingml/2006/main">
              <a:ext uri="{FF2B5EF4-FFF2-40B4-BE49-F238E27FC236}">
                <a16:creationId xmlns:a16="http://schemas.microsoft.com/office/drawing/2014/main" id="{DDE2773C-3EBC-46FD-BC89-6FC10F480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781675"/>
            <a:ext cx="82486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以整理时间、疑点遗漏和复核可用性评价试用，探索本地部署和服务订阅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5A9846B6-52EB-4D09-BE12-9284E76B9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7629657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专家反馈驱动方法和模型改进">
            <a:extLst xmlns:a="http://schemas.openxmlformats.org/drawingml/2006/main">
              <a:ext uri="{FF2B5EF4-FFF2-40B4-BE49-F238E27FC236}">
                <a16:creationId xmlns:a16="http://schemas.microsoft.com/office/drawing/2014/main" id="{BCBA35DD-1C21-42CB-AEDD-EF7062D44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专家反馈驱动方法和模型改进</a:t>
            </a:r>
          </a:p>
        </p:txBody>
      </p:sp>
      <p:sp>
        <p:nvSpPr>
          <p:cNvPr id="2" name="下一阶段先验证观察、引用和理由，再决定训练和产品化">
            <a:extLst xmlns:a="http://schemas.openxmlformats.org/drawingml/2006/main">
              <a:ext uri="{FF2B5EF4-FFF2-40B4-BE49-F238E27FC236}">
                <a16:creationId xmlns:a16="http://schemas.microsoft.com/office/drawing/2014/main" id="{B2FAE8D6-81C8-44B9-B02E-4D89351A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57300"/>
            <a:ext cx="10858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下一阶段先验证观察、引用和理由，再决定训练和产品化</a:t>
            </a:r>
          </a:p>
        </p:txBody>
      </p:sp>
      <p:sp>
        <p:nvSpPr>
          <p:cNvPr id="3" name="授权专家样本">
            <a:extLst xmlns:a="http://schemas.openxmlformats.org/drawingml/2006/main">
              <a:ext uri="{FF2B5EF4-FFF2-40B4-BE49-F238E27FC236}">
                <a16:creationId xmlns:a16="http://schemas.microsoft.com/office/drawing/2014/main" id="{E021FD7D-A0E4-491B-9E40-6592AFE96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33242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授权专家样本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照片和对象身份固定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专家标签首轮隔离</a:t>
            </a:r>
          </a:p>
        </p:txBody>
      </p:sp>
      <p:sp>
        <p:nvSpPr>
          <p:cNvPr id="4" name="独立评测">
            <a:extLst xmlns:a="http://schemas.openxmlformats.org/drawingml/2006/main">
              <a:ext uri="{FF2B5EF4-FFF2-40B4-BE49-F238E27FC236}">
                <a16:creationId xmlns:a16="http://schemas.microsoft.com/office/drawing/2014/main" id="{EB2A8501-7369-4B17-A8C0-7731C40F9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152650"/>
            <a:ext cx="33242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独立评测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同模型、资料和预算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有 / 无 Skills 和盲评</a:t>
            </a:r>
          </a:p>
        </p:txBody>
      </p:sp>
      <p:sp>
        <p:nvSpPr>
          <p:cNvPr id="5" name="审核和保留集回归">
            <a:extLst xmlns:a="http://schemas.openxmlformats.org/drawingml/2006/main">
              <a:ext uri="{FF2B5EF4-FFF2-40B4-BE49-F238E27FC236}">
                <a16:creationId xmlns:a16="http://schemas.microsoft.com/office/drawing/2014/main" id="{F7D55A61-97BA-4873-B13C-E7C8F7A4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3324225" cy="1400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245B88"/>
            </a:solidFill>
          </a:ln>
        </p:spPr>
        <p:txBody>
          <a:bodyPr xmlns:a="http://schemas.openxmlformats.org/drawingml/2006/main" lIns="133350" tIns="114300" rIns="133350" bIns="11430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550"/>
              </a:spcAft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审核和保留集回归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修改方法和模型版本</a:t>
            </a:r>
          </a:p>
          <a:p xmlns:a="http://schemas.openxmlformats.org/drawingml/2006/main">
            <a:pPr algn="l">
              <a:def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记录失败和退步</a:t>
            </a:r>
          </a:p>
        </p:txBody>
      </p:sp>
      <p:cxnSp>
        <p:nvCxnSpPr>
          <p:cNvPr id="2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952875" y="285273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cxnSp>
        <p:nvCxnSpPr>
          <p:cNvPr id="2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7753350" y="2852738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45B88"/>
            </a:solidFill>
            <a:prstDash val="solid"/>
            <a:tailEnd type="triangle" w="sm" len="sm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F6D365-80B6-4C89-8E50-AE1E285C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105275"/>
            <a:ext cx="109251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5E0"/>
            </a:solidFill>
          </a:ln>
        </p:spPr>
      </p:sp>
      <p:sp>
        <p:nvSpPr>
          <p:cNvPr id="9" name="研究方向">
            <a:extLst xmlns:a="http://schemas.openxmlformats.org/drawingml/2006/main">
              <a:ext uri="{FF2B5EF4-FFF2-40B4-BE49-F238E27FC236}">
                <a16:creationId xmlns:a16="http://schemas.microsoft.com/office/drawing/2014/main" id="{1E3AE909-3161-4CAB-991C-8C0524A61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14850"/>
            <a:ext cx="26003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研究方向</a:t>
            </a:r>
          </a:p>
        </p:txBody>
      </p:sp>
      <p:sp>
        <p:nvSpPr>
          <p:cNvPr id="10" name="受控采集和多时相档案&#10;将专业反馈转成有许可、可审阅的离线材料">
            <a:extLst xmlns:a="http://schemas.openxmlformats.org/drawingml/2006/main">
              <a:ext uri="{FF2B5EF4-FFF2-40B4-BE49-F238E27FC236}">
                <a16:creationId xmlns:a16="http://schemas.microsoft.com/office/drawing/2014/main" id="{857253B3-33DB-41AE-86C0-D28258FC0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476750"/>
            <a:ext cx="8239125" cy="923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受控采集和多时相档案</a:t>
            </a:r>
          </a:p>
          <a:p xmlns:a="http://schemas.openxmlformats.org/drawingml/2006/main">
            <a:pPr algn="l">
              <a:def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将专业反馈转成有许可、可审阅的离线材料</a:t>
            </a:r>
          </a:p>
        </p:txBody>
      </p:sp>
      <p:sp>
        <p:nvSpPr>
          <p:cNvPr id="11" name="机构协作和后训练">
            <a:extLst xmlns:a="http://schemas.openxmlformats.org/drawingml/2006/main">
              <a:ext uri="{FF2B5EF4-FFF2-40B4-BE49-F238E27FC236}">
                <a16:creationId xmlns:a16="http://schemas.microsoft.com/office/drawing/2014/main" id="{22674EFD-45E3-4762-B311-5B6AF014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29275"/>
            <a:ext cx="26003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机构协作和后训练</a:t>
            </a:r>
          </a:p>
        </p:txBody>
      </p:sp>
      <p:sp>
        <p:nvSpPr>
          <p:cNvPr id="12" name="探索 NVFLARE 联合训练和 NeMo RL，验证后再发布版本">
            <a:extLst xmlns:a="http://schemas.openxmlformats.org/drawingml/2006/main">
              <a:ext uri="{FF2B5EF4-FFF2-40B4-BE49-F238E27FC236}">
                <a16:creationId xmlns:a16="http://schemas.microsoft.com/office/drawing/2014/main" id="{27EB97A9-FC7B-442D-925C-D5E2A593B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5629275"/>
            <a:ext cx="8239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9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探索 NVFLARE 联合训练和 NeMo RL，验证后再发布版本</a:t>
            </a:r>
          </a:p>
        </p:txBody>
      </p:sp>
      <p:sp>
        <p:nvSpPr>
          <p:cNvPr id="13" name="当前尚未完成独立专家样本评价和真品概率校准">
            <a:extLst xmlns:a="http://schemas.openxmlformats.org/drawingml/2006/main">
              <a:ext uri="{FF2B5EF4-FFF2-40B4-BE49-F238E27FC236}">
                <a16:creationId xmlns:a16="http://schemas.microsoft.com/office/drawing/2014/main" id="{257E6174-CCFA-439A-8ED9-7DD1C9E4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91250"/>
            <a:ext cx="10620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当前尚未完成独立专家样本评价和真品概率校准</a:t>
            </a:r>
          </a:p>
        </p:txBody>
      </p:sp>
      <p:sp>
        <p:nvSpPr>
          <p:cNvPr id="14" name="11">
            <a:extLst xmlns:a="http://schemas.openxmlformats.org/drawingml/2006/main">
              <a:ext uri="{FF2B5EF4-FFF2-40B4-BE49-F238E27FC236}">
                <a16:creationId xmlns:a16="http://schemas.microsoft.com/office/drawing/2014/main" id="{09162A42-829F-40C0-B1CC-96B772736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02644844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公开馆藏个案：逐条核对观察和理由">
            <a:extLst xmlns:a="http://schemas.openxmlformats.org/drawingml/2006/main">
              <a:ext uri="{FF2B5EF4-FFF2-40B4-BE49-F238E27FC236}">
                <a16:creationId xmlns:a16="http://schemas.microsoft.com/office/drawing/2014/main" id="{5B84386D-0094-4FB4-B811-49B3ED15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300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公开馆藏个案：逐条核对观察和理由</a:t>
            </a:r>
          </a:p>
        </p:txBody>
      </p:sp>
      <p:sp>
        <p:nvSpPr>
          <p:cNvPr id="2" name="先看照片，再加入同件馆藏记载，检查理由如何变化">
            <a:extLst xmlns:a="http://schemas.openxmlformats.org/drawingml/2006/main">
              <a:ext uri="{FF2B5EF4-FFF2-40B4-BE49-F238E27FC236}">
                <a16:creationId xmlns:a16="http://schemas.microsoft.com/office/drawing/2014/main" id="{BDDCCFA5-AAA6-4921-80C2-30828AE9D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38250"/>
            <a:ext cx="10906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先看照片，再加入同件馆藏记载，检查理由如何变化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a857b6543e4338"/>
          <a:stretch xmlns:a="http://schemas.openxmlformats.org/drawingml/2006/main"/>
        </p:blipFill>
        <p:spPr>
          <a:xfrm xmlns:a="http://schemas.openxmlformats.org/drawingml/2006/main">
            <a:off x="1343025" y="1771650"/>
            <a:ext cx="1943100" cy="2590800"/>
          </a:xfrm>
          <a:prstGeom xmlns:a="http://schemas.openxmlformats.org/drawingml/2006/main" prst="rect">
            <a:avLst/>
          </a:prstGeom>
        </p:spPr>
      </p:pic>
      <p:sp>
        <p:nvSpPr>
          <p:cNvPr id="4" name="“射手”纹青花储水器">
            <a:extLst xmlns:a="http://schemas.openxmlformats.org/drawingml/2006/main">
              <a:ext uri="{FF2B5EF4-FFF2-40B4-BE49-F238E27FC236}">
                <a16:creationId xmlns:a16="http://schemas.microsoft.com/office/drawing/2014/main" id="{576A51B9-A2F2-453F-820C-6DA9971C3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62475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“射手”纹青花储水器</a:t>
            </a:r>
          </a:p>
        </p:txBody>
      </p:sp>
      <p:sp>
        <p:nvSpPr>
          <p:cNvPr id="5" name="Met 2021.321a, b">
            <a:extLst xmlns:a="http://schemas.openxmlformats.org/drawingml/2006/main">
              <a:ext uri="{FF2B5EF4-FFF2-40B4-BE49-F238E27FC236}">
                <a16:creationId xmlns:a16="http://schemas.microsoft.com/office/drawing/2014/main" id="{2DAF0F63-6AFC-4EC2-B586-873E64B8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10150"/>
            <a:ext cx="3381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Met 2021.321a, b</a:t>
            </a:r>
          </a:p>
        </p:txBody>
      </p:sp>
      <p:sp>
        <p:nvSpPr>
          <p:cNvPr id="6" name="装饰风格和制作地&#10;需要分别判断">
            <a:extLst xmlns:a="http://schemas.openxmlformats.org/drawingml/2006/main">
              <a:ext uri="{FF2B5EF4-FFF2-40B4-BE49-F238E27FC236}">
                <a16:creationId xmlns:a16="http://schemas.microsoft.com/office/drawing/2014/main" id="{FFED8487-A643-4B6C-AA5C-56D7DE3C6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486400"/>
            <a:ext cx="338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装饰风格和制作地</a:t>
            </a:r>
          </a:p>
          <a:p xmlns:a="http://schemas.openxmlformats.org/drawingml/2006/main">
            <a:pPr algn="l">
              <a:def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需要分别判断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d39f526942498a"/>
          <a:stretch xmlns:a="http://schemas.openxmlformats.org/drawingml/2006/main"/>
        </p:blipFill>
        <p:spPr>
          <a:xfrm xmlns:a="http://schemas.openxmlformats.org/drawingml/2006/main">
            <a:off x="5047602" y="1771650"/>
            <a:ext cx="1944395" cy="2590800"/>
          </a:xfrm>
          <a:prstGeom xmlns:a="http://schemas.openxmlformats.org/drawingml/2006/main" prst="rect">
            <a:avLst/>
          </a:prstGeom>
        </p:spPr>
      </p:pic>
      <p:sp>
        <p:nvSpPr>
          <p:cNvPr id="8" name="仿古铜器形彩瓷瓶">
            <a:extLst xmlns:a="http://schemas.openxmlformats.org/drawingml/2006/main">
              <a:ext uri="{FF2B5EF4-FFF2-40B4-BE49-F238E27FC236}">
                <a16:creationId xmlns:a16="http://schemas.microsoft.com/office/drawing/2014/main" id="{800134E7-9D87-4B04-86FD-A14453AE9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562475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仿古铜器形彩瓷瓶</a:t>
            </a:r>
          </a:p>
        </p:txBody>
      </p:sp>
      <p:sp>
        <p:nvSpPr>
          <p:cNvPr id="9" name="Met 14.40.396">
            <a:extLst xmlns:a="http://schemas.openxmlformats.org/drawingml/2006/main">
              <a:ext uri="{FF2B5EF4-FFF2-40B4-BE49-F238E27FC236}">
                <a16:creationId xmlns:a16="http://schemas.microsoft.com/office/drawing/2014/main" id="{37ED0F30-25E1-4D96-836D-DBEBAC5E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010150"/>
            <a:ext cx="3381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Met 14.40.396</a:t>
            </a:r>
          </a:p>
        </p:txBody>
      </p:sp>
      <p:sp>
        <p:nvSpPr>
          <p:cNvPr id="10" name="缺少外底或足内图&#10;不能推断实物无款">
            <a:extLst xmlns:a="http://schemas.openxmlformats.org/drawingml/2006/main">
              <a:ext uri="{FF2B5EF4-FFF2-40B4-BE49-F238E27FC236}">
                <a16:creationId xmlns:a16="http://schemas.microsoft.com/office/drawing/2014/main" id="{54E2D808-C707-4DA3-BC90-ACA920BD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486400"/>
            <a:ext cx="338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缺少外底或足内图</a:t>
            </a:r>
          </a:p>
          <a:p xmlns:a="http://schemas.openxmlformats.org/drawingml/2006/main">
            <a:pPr algn="l">
              <a:def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不能推断实物无款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35ddd658eb4acd"/>
          <a:stretch xmlns:a="http://schemas.openxmlformats.org/drawingml/2006/main"/>
        </p:blipFill>
        <p:spPr>
          <a:xfrm xmlns:a="http://schemas.openxmlformats.org/drawingml/2006/main">
            <a:off x="8084277" y="1771650"/>
            <a:ext cx="3281495" cy="2590800"/>
          </a:xfrm>
          <a:prstGeom xmlns:a="http://schemas.openxmlformats.org/drawingml/2006/main" prst="rect">
            <a:avLst/>
          </a:prstGeom>
        </p:spPr>
      </p:pic>
      <p:sp>
        <p:nvSpPr>
          <p:cNvPr id="12" name="龙泉青釉碗">
            <a:extLst xmlns:a="http://schemas.openxmlformats.org/drawingml/2006/main">
              <a:ext uri="{FF2B5EF4-FFF2-40B4-BE49-F238E27FC236}">
                <a16:creationId xmlns:a16="http://schemas.microsoft.com/office/drawing/2014/main" id="{CE20D904-ACD2-4349-8892-514C0457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562475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1">
                <a:solidFill>
                  <a:srgbClr val="132D49"/>
                </a:solidFill>
                <a:latin typeface="Hiragino Sans GB"/>
                <a:ea typeface="Hiragino Sans GB"/>
                <a:cs typeface="Hiragino Sans GB"/>
              </a:rPr>
              <a:t>龙泉青釉碗</a:t>
            </a:r>
          </a:p>
        </p:txBody>
      </p:sp>
      <p:sp>
        <p:nvSpPr>
          <p:cNvPr id="13" name="Met 17.57.1">
            <a:extLst xmlns:a="http://schemas.openxmlformats.org/drawingml/2006/main">
              <a:ext uri="{FF2B5EF4-FFF2-40B4-BE49-F238E27FC236}">
                <a16:creationId xmlns:a16="http://schemas.microsoft.com/office/drawing/2014/main" id="{1FC51F8A-EC53-4237-BC69-8D34EF98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010150"/>
            <a:ext cx="3381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Met 17.57.1</a:t>
            </a:r>
          </a:p>
        </p:txBody>
      </p:sp>
      <p:sp>
        <p:nvSpPr>
          <p:cNvPr id="14" name="修补外观和工艺名称&#10;需要分层核查">
            <a:extLst xmlns:a="http://schemas.openxmlformats.org/drawingml/2006/main">
              <a:ext uri="{FF2B5EF4-FFF2-40B4-BE49-F238E27FC236}">
                <a16:creationId xmlns:a16="http://schemas.microsoft.com/office/drawing/2014/main" id="{98849B8F-930B-4ACB-8C0C-6A47DE038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486400"/>
            <a:ext cx="3381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修补外观和工艺名称</a:t>
            </a:r>
          </a:p>
          <a:p xmlns:a="http://schemas.openxmlformats.org/drawingml/2006/main">
            <a:pPr algn="l">
              <a:def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1">
                <a:solidFill>
                  <a:srgbClr val="245B88"/>
                </a:solidFill>
                <a:latin typeface="Hiragino Sans GB"/>
                <a:ea typeface="Hiragino Sans GB"/>
                <a:cs typeface="Hiragino Sans GB"/>
              </a:rPr>
              <a:t>需要分层核查</a:t>
            </a:r>
          </a:p>
        </p:txBody>
      </p:sp>
      <p:sp>
        <p:nvSpPr>
          <p:cNvPr id="15" name="照片和馆方记载均可回查。公开资料个案核查已完成，真人专家验证列入后续工作">
            <a:extLst xmlns:a="http://schemas.openxmlformats.org/drawingml/2006/main">
              <a:ext uri="{FF2B5EF4-FFF2-40B4-BE49-F238E27FC236}">
                <a16:creationId xmlns:a16="http://schemas.microsoft.com/office/drawing/2014/main" id="{9F37B6F6-F24E-4821-94C1-DE89D66A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315075"/>
            <a:ext cx="108394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75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照片和馆方记载均可回查。公开资料个案核查已完成，真人专家验证列入后续工作</a:t>
            </a:r>
          </a:p>
        </p:txBody>
      </p:sp>
      <p:sp>
        <p:nvSpPr>
          <p:cNvPr id="16" name="12">
            <a:extLst xmlns:a="http://schemas.openxmlformats.org/drawingml/2006/main">
              <a:ext uri="{FF2B5EF4-FFF2-40B4-BE49-F238E27FC236}">
                <a16:creationId xmlns:a16="http://schemas.microsoft.com/office/drawing/2014/main" id="{94EA6B43-B19D-4A44-8C67-FB490D11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1985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500" b="0">
                <a:solidFill>
                  <a:srgbClr val="5E7181"/>
                </a:solidFill>
                <a:latin typeface="Hiragino Sans GB"/>
                <a:ea typeface="Hiragino Sans GB"/>
                <a:cs typeface="Hiragino Sans GB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0880467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132D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d957754304b59"/>
          <a:srcRect xmlns:a="http://schemas.openxmlformats.org/drawingml/2006/main" l="19353" t="0" r="193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5476875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瓷证">
            <a:extLst xmlns:a="http://schemas.openxmlformats.org/drawingml/2006/main">
              <a:ext uri="{FF2B5EF4-FFF2-40B4-BE49-F238E27FC236}">
                <a16:creationId xmlns:a16="http://schemas.microsoft.com/office/drawing/2014/main" id="{A6354388-0F23-4FE5-8BA8-1FE52AA97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295400"/>
            <a:ext cx="52768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700" b="1">
                <a:solidFill>
                  <a:srgbClr val="FFFFFF"/>
                </a:solidFill>
                <a:latin typeface="Songti SC"/>
                <a:ea typeface="Songti SC"/>
                <a:cs typeface="Songti SC"/>
              </a:defRPr>
            </a:pPr>
            <a:r>
              <a:rPr sz="5700" b="1">
                <a:solidFill>
                  <a:srgbClr val="FFFFFF"/>
                </a:solidFill>
                <a:latin typeface="Songti SC"/>
                <a:ea typeface="Songti SC"/>
                <a:cs typeface="Songti SC"/>
              </a:rPr>
              <a:t>瓷证</a:t>
            </a:r>
          </a:p>
        </p:txBody>
      </p:sp>
      <p:sp>
        <p:nvSpPr>
          <p:cNvPr id="3" name="可以继续复核的陶瓷案卷">
            <a:extLst xmlns:a="http://schemas.openxmlformats.org/drawingml/2006/main">
              <a:ext uri="{FF2B5EF4-FFF2-40B4-BE49-F238E27FC236}">
                <a16:creationId xmlns:a16="http://schemas.microsoft.com/office/drawing/2014/main" id="{ADBBE04E-39D4-4468-8E32-18219C533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57475"/>
            <a:ext cx="53530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775" b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</a:rPr>
              <a:t>可以继续复核的陶瓷案卷</a:t>
            </a:r>
          </a:p>
        </p:txBody>
      </p:sp>
      <p:sp>
        <p:nvSpPr>
          <p:cNvPr id="4" name="原图出处可追溯&#10;判断理由可核查&#10;下一项补证有明确方向">
            <a:extLst xmlns:a="http://schemas.openxmlformats.org/drawingml/2006/main">
              <a:ext uri="{FF2B5EF4-FFF2-40B4-BE49-F238E27FC236}">
                <a16:creationId xmlns:a16="http://schemas.microsoft.com/office/drawing/2014/main" id="{BDF9EBD6-24B8-46B4-93BF-EBA817B1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3657600"/>
            <a:ext cx="5305425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原图出处可追溯</a:t>
            </a:r>
          </a:p>
          <a:p xmlns:a="http://schemas.openxmlformats.org/drawingml/2006/main">
            <a:pPr algn="l">
              <a:def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判断理由可核查</a:t>
            </a:r>
          </a:p>
          <a:p xmlns:a="http://schemas.openxmlformats.org/drawingml/2006/main">
            <a:pPr algn="l">
              <a:def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rPr>
              <a:t>下一项补证有明确方向</a:t>
            </a:r>
          </a:p>
        </p:txBody>
      </p:sp>
      <p:sp>
        <p:nvSpPr>
          <p:cNvPr id="5" name="完整图文报告书">
            <a:extLst xmlns:a="http://schemas.openxmlformats.org/drawingml/2006/main">
              <a:ext uri="{FF2B5EF4-FFF2-40B4-BE49-F238E27FC236}">
                <a16:creationId xmlns:a16="http://schemas.microsoft.com/office/drawing/2014/main" id="{47A5220C-48D2-4441-B203-E621BE614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486400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9493ce970b554d20"/>
              </a:rPr>
              <a:t>完整图文报告书</a:t>
            </a:r>
          </a:p>
        </p:txBody>
      </p:sp>
      <p:sp>
        <p:nvSpPr>
          <p:cNvPr id="6" name="公开馆藏个案核查">
            <a:extLst xmlns:a="http://schemas.openxmlformats.org/drawingml/2006/main">
              <a:ext uri="{FF2B5EF4-FFF2-40B4-BE49-F238E27FC236}">
                <a16:creationId xmlns:a16="http://schemas.microsoft.com/office/drawing/2014/main" id="{BD67E124-D84A-4791-BBEC-C566CC87B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838825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a3a357cdfc064d76"/>
              </a:rPr>
              <a:t>公开馆藏个案核查</a:t>
            </a:r>
          </a:p>
        </p:txBody>
      </p:sp>
      <p:sp>
        <p:nvSpPr>
          <p:cNvPr id="7" name="公开源码和部署证据">
            <a:extLst xmlns:a="http://schemas.openxmlformats.org/drawingml/2006/main">
              <a:ext uri="{FF2B5EF4-FFF2-40B4-BE49-F238E27FC236}">
                <a16:creationId xmlns:a16="http://schemas.microsoft.com/office/drawing/2014/main" id="{FFD5A77E-358B-4F0C-9B47-8D008715B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6191250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C7D6E2"/>
                </a:solidFill>
                <a:latin typeface="Hiragino Sans GB"/>
                <a:ea typeface="Hiragino Sans GB"/>
                <a:cs typeface="Hiragino Sans GB"/>
                <a:hlinkClick xmlns:r="http://schemas.openxmlformats.org/officeDocument/2006/relationships" r:id="R76ca250c791e4644"/>
              </a:rPr>
              <a:t>公开源码和部署证据</a:t>
            </a:r>
          </a:p>
        </p:txBody>
      </p:sp>
    </p:spTree>
    <p:extLst>
      <p:ext uri="{BB962C8B-B14F-4D97-AF65-F5344CB8AC3E}">
        <p14:creationId xmlns:p14="http://schemas.microsoft.com/office/powerpoint/2010/main" val="289658688"/>
      </p:ext>
    </p:extLst>
  </p:cSld>
</p:sld>
</file>

<file path=ppt/theme/theme1.xml><?xml version="1.0" encoding="utf-8"?>
<a:theme xmlns:a="http://schemas.openxmlformats.org/drawingml/2006/main" name="ChatGPT">
  <a:themeElements>
    <a:clrScheme name="瓷证">
      <a:dk1>
        <a:srgbClr val="000000"/>
      </a:dk1>
      <a:lt1>
        <a:srgbClr val="FFFFFF"/>
      </a:lt1>
      <a:dk2>
        <a:srgbClr val="132D49"/>
      </a:dk2>
      <a:lt2>
        <a:srgbClr val="EEF4F8"/>
      </a:lt2>
      <a:accent1>
        <a:srgbClr val="245B88"/>
      </a:accent1>
      <a:accent2>
        <a:srgbClr val="132D49"/>
      </a:accent2>
      <a:accent3>
        <a:srgbClr val="AE8B4A"/>
      </a:accent3>
      <a:accent4>
        <a:srgbClr val="5E7181"/>
      </a:accent4>
      <a:accent5>
        <a:srgbClr val="C7D5E0"/>
      </a:accent5>
      <a:accent6>
        <a:srgbClr val="C7D6E2"/>
      </a:accent6>
      <a:hlink>
        <a:srgbClr val="C7D6E2"/>
      </a:hlink>
      <a:folHlink>
        <a:srgbClr val="C7D6E2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瓷证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2026-09-29T14:34:04.8530000Z</dcterms:created>
  <dcterms:modified xsi:type="dcterms:W3CDTF">2026-09-29T14:34:04.8530000Z</dcterms:modified>
</coreProperties>
</file>