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342e5890a54ced" /><Relationship Type="http://schemas.openxmlformats.org/officeDocument/2006/relationships/extended-properties" Target="/docProps/app.xml" Id="R9ece841726e04b30" /><Relationship Type="http://schemas.openxmlformats.org/officeDocument/2006/relationships/officeDocument" Target="/ppt/presentation.xml" Id="R806e4e48427840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8da10951864f6f"/>
  </p:sldMasterIdLst>
  <p:notesMasterIdLst>
    <p:notesMasterId xmlns:r="http://schemas.openxmlformats.org/officeDocument/2006/relationships" r:id="R5829e0fda9fe475b"/>
  </p:notesMasterIdLst>
  <p:sldIdLst>
    <p:sldId xmlns:r="http://schemas.openxmlformats.org/officeDocument/2006/relationships" id="256" r:id="Rc6d555ad456a447f"/>
    <p:sldId xmlns:r="http://schemas.openxmlformats.org/officeDocument/2006/relationships" id="257" r:id="Rb779731c34624637"/>
    <p:sldId xmlns:r="http://schemas.openxmlformats.org/officeDocument/2006/relationships" id="258" r:id="Rb5ed41b853b7460b"/>
    <p:sldId xmlns:r="http://schemas.openxmlformats.org/officeDocument/2006/relationships" id="259" r:id="Ra9ed836dd0014d20"/>
    <p:sldId xmlns:r="http://schemas.openxmlformats.org/officeDocument/2006/relationships" id="260" r:id="R803ad068e6804441"/>
    <p:sldId xmlns:r="http://schemas.openxmlformats.org/officeDocument/2006/relationships" id="261" r:id="R6351b43bd61b4c35"/>
    <p:sldId xmlns:r="http://schemas.openxmlformats.org/officeDocument/2006/relationships" id="262" r:id="R42ffbaa4fc5a4257"/>
    <p:sldId xmlns:r="http://schemas.openxmlformats.org/officeDocument/2006/relationships" id="263" r:id="Rd03fe251ef094a66"/>
    <p:sldId xmlns:r="http://schemas.openxmlformats.org/officeDocument/2006/relationships" id="264" r:id="R02a36880fd444c64"/>
    <p:sldId xmlns:r="http://schemas.openxmlformats.org/officeDocument/2006/relationships" id="265" r:id="Ra4515bc6db0b4d75"/>
    <p:sldId xmlns:r="http://schemas.openxmlformats.org/officeDocument/2006/relationships" id="266" r:id="R3ed539fa9ebe43b7"/>
    <p:sldId xmlns:r="http://schemas.openxmlformats.org/officeDocument/2006/relationships" id="267" r:id="R8450e743d5d04d6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43d7ab5811f4a2e" /><Relationship Type="http://schemas.openxmlformats.org/officeDocument/2006/relationships/slideMaster" Target="/ppt/slideMasters/slideMaster1.xml" Id="Ra98da10951864f6f" /><Relationship Type="http://schemas.openxmlformats.org/officeDocument/2006/relationships/notesMaster" Target="/ppt/notesMasters/notesMaster1.xml" Id="R5829e0fda9fe475b" /><Relationship Type="http://schemas.openxmlformats.org/officeDocument/2006/relationships/presProps" Target="/ppt/presProps.xml" Id="Rb49962cb665446d4" /><Relationship Type="http://schemas.openxmlformats.org/officeDocument/2006/relationships/tableStyles" Target="/ppt/tableStyles.xml" Id="Raf96514b50a84bd8" /><Relationship Type="http://schemas.openxmlformats.org/officeDocument/2006/relationships/slide" Target="/ppt/slides/slide1.xml" Id="Rc6d555ad456a447f" /><Relationship Type="http://schemas.openxmlformats.org/officeDocument/2006/relationships/slide" Target="/ppt/slides/slide2.xml" Id="Rb779731c34624637" /><Relationship Type="http://schemas.openxmlformats.org/officeDocument/2006/relationships/slide" Target="/ppt/slides/slide3.xml" Id="Rb5ed41b853b7460b" /><Relationship Type="http://schemas.openxmlformats.org/officeDocument/2006/relationships/slide" Target="/ppt/slides/slide4.xml" Id="Ra9ed836dd0014d20" /><Relationship Type="http://schemas.openxmlformats.org/officeDocument/2006/relationships/slide" Target="/ppt/slides/slide5.xml" Id="R803ad068e6804441" /><Relationship Type="http://schemas.openxmlformats.org/officeDocument/2006/relationships/slide" Target="/ppt/slides/slide6.xml" Id="R6351b43bd61b4c35" /><Relationship Type="http://schemas.openxmlformats.org/officeDocument/2006/relationships/slide" Target="/ppt/slides/slide7.xml" Id="R42ffbaa4fc5a4257" /><Relationship Type="http://schemas.openxmlformats.org/officeDocument/2006/relationships/slide" Target="/ppt/slides/slide8.xml" Id="Rd03fe251ef094a66" /><Relationship Type="http://schemas.openxmlformats.org/officeDocument/2006/relationships/slide" Target="/ppt/slides/slide9.xml" Id="R02a36880fd444c64" /><Relationship Type="http://schemas.openxmlformats.org/officeDocument/2006/relationships/slide" Target="/ppt/slides/slide10.xml" Id="Ra4515bc6db0b4d75" /><Relationship Type="http://schemas.openxmlformats.org/officeDocument/2006/relationships/slide" Target="/ppt/slides/slide11.xml" Id="R3ed539fa9ebe43b7" /><Relationship Type="http://schemas.openxmlformats.org/officeDocument/2006/relationships/slide" Target="/ppt/slides/slide12.xml" Id="R8450e743d5d04d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ef3dde4c3549d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瓷证">
      <a:dk1>
        <a:srgbClr val="000000"/>
      </a:dk1>
      <a:lt1>
        <a:srgbClr val="FFFFFF"/>
      </a:lt1>
      <a:dk2>
        <a:srgbClr val="132D49"/>
      </a:dk2>
      <a:lt2>
        <a:srgbClr val="EEF4F8"/>
      </a:lt2>
      <a:accent1>
        <a:srgbClr val="245B88"/>
      </a:accent1>
      <a:accent2>
        <a:srgbClr val="132D49"/>
      </a:accent2>
      <a:accent3>
        <a:srgbClr val="AE8B4A"/>
      </a:accent3>
      <a:accent4>
        <a:srgbClr val="5E7181"/>
      </a:accent4>
      <a:accent5>
        <a:srgbClr val="C7D5E0"/>
      </a:accent5>
      <a:accent6>
        <a:srgbClr val="C7D6E2"/>
      </a:accent6>
      <a:hlink>
        <a:srgbClr val="C7D6E2"/>
      </a:hlink>
      <a:folHlink>
        <a:srgbClr val="C7D6E2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瓷证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c3a55b4bd9e4fd0" /><Relationship Type="http://schemas.openxmlformats.org/officeDocument/2006/relationships/notesMaster" Target="/ppt/notesMasters/notesMaster1.xml" Id="R763a92f1065349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1bc7bcbfb6d441d" /><Relationship Type="http://schemas.openxmlformats.org/officeDocument/2006/relationships/notesMaster" Target="/ppt/notesMasters/notesMaster1.xml" Id="Re3249ade8f604dd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8a117dce43495d" /><Relationship Type="http://schemas.openxmlformats.org/officeDocument/2006/relationships/notesMaster" Target="/ppt/notesMasters/notesMaster1.xml" Id="R0348f853d51949a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047210234864818" /><Relationship Type="http://schemas.openxmlformats.org/officeDocument/2006/relationships/notesMaster" Target="/ppt/notesMasters/notesMaster1.xml" Id="R3190ee74def94c3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9840bf8068541e1" /><Relationship Type="http://schemas.openxmlformats.org/officeDocument/2006/relationships/notesMaster" Target="/ppt/notesMasters/notesMaster1.xml" Id="R1a804d57eb0a410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9cd1ee131a6431f" /><Relationship Type="http://schemas.openxmlformats.org/officeDocument/2006/relationships/notesMaster" Target="/ppt/notesMasters/notesMaster1.xml" Id="Rf4da75e2fd214d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bd7e4f793a044da" /><Relationship Type="http://schemas.openxmlformats.org/officeDocument/2006/relationships/notesMaster" Target="/ppt/notesMasters/notesMaster1.xml" Id="R3e0407096d9846e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7d1c5d83a074d22" /><Relationship Type="http://schemas.openxmlformats.org/officeDocument/2006/relationships/notesMaster" Target="/ppt/notesMasters/notesMaster1.xml" Id="R179c4e68ffdc48c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f9c6057b2d1406f" /><Relationship Type="http://schemas.openxmlformats.org/officeDocument/2006/relationships/notesMaster" Target="/ppt/notesMasters/notesMaster1.xml" Id="R24bc0a55cb76404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635e5e4b91144dc" /><Relationship Type="http://schemas.openxmlformats.org/officeDocument/2006/relationships/notesMaster" Target="/ppt/notesMasters/notesMaster1.xml" Id="Ra2a96658ff5a41a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92501999cd248a5" /><Relationship Type="http://schemas.openxmlformats.org/officeDocument/2006/relationships/notesMaster" Target="/ppt/notesMasters/notesMaster1.xml" Id="Rda60866d44754e2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0af4664315b44dd" /><Relationship Type="http://schemas.openxmlformats.org/officeDocument/2006/relationships/notesMaster" Target="/ppt/notesMasters/notesMaster1.xml" Id="R897d5abb9b5742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瓷证面向陶瓷研究材料的整理、补证和交接。AI负责观察与证据整理，专业人员负责复核。器物为公开已知身份教学材料，不代表项目完成了独立鉴定。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来源与范围</a:t>
            </a:r>
          </a:p>
          <a:p xmlns:a="http://schemas.openxmlformats.org/drawingml/2006/main">
            <a:r>
              <a:t>图像：The Metropolitan Museum of Art，18.61.4，Public Domain / CC0。https://www.metmuseum.org/art/collection/search/48607</a:t>
            </a:r>
          </a:p>
          <a:p xmlns:a="http://schemas.openxmlformats.org/drawingml/2006/main">
            <a:r>
              <a:t>https://github.com/dingyucanada/cizheng-agent-skills/blob/main/examples/public-demo/sources.json</a:t>
            </a:r>
          </a:p>
          <a:p xmlns:a="http://schemas.openxmlformats.org/drawingml/2006/main">
            <a:r>
              <a:t>https://github.com/dingyucanada/cizheng-agent-skills/blob/main/docs/product-and-architecture.md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这里描述的是产品解决的工作问题，不是市场规模调查。收藏档案、博物馆编目和图录准备都需要把描述和依据对应。系统组织研究路径，不能凭照片替代实物检测。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来源与范围</a:t>
            </a:r>
          </a:p>
          <a:p xmlns:a="http://schemas.openxmlformats.org/drawingml/2006/main">
            <a:r>
              <a:t>https://github.com/dingyucanada/cizheng-agent-skills/blob/main/docs/product-and-architecture.md</a:t>
            </a:r>
          </a:p>
          <a:p xmlns:a="http://schemas.openxmlformats.org/drawingml/2006/main">
            <a:r>
              <a:t>https://github.com/dingyucanada/cizheng-agent-skills/blob/main/docs/professional-research.md</a:t>
            </a:r>
          </a:p>
          <a:p xmlns:a="http://schemas.openxmlformats.org/drawingml/2006/main">
            <a:r>
              <a:t>图像：The Metropolitan Museum of Art，79.2.1202a,b，Public Domain / CC0。https://www.metmuseum.org/art/collection/search/51185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图来自真实本地专业工作台的公开教学案。选区、图像操作、来源记录和离线交接可以在不调用模型时使用。截图中的馆方资料和人工教学观察不等同实际模型报告。原件、人工记录、固定资料版本、Agent运行和复核各有版本，材料更新后旧复核显示过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来源与范围</a:t>
            </a:r>
          </a:p>
          <a:p xmlns:a="http://schemas.openxmlformats.org/drawingml/2006/main">
            <a:r>
              <a:t>https://github.com/dingyucanada/cizheng-agent-skills/blob/main/site/assets/workbench-v06.jpg</a:t>
            </a:r>
          </a:p>
          <a:p xmlns:a="http://schemas.openxmlformats.org/drawingml/2006/main">
            <a:r>
              <a:t>https://github.com/dingyucanada/cizheng-agent-skills/blob/main/docs/user-guide.md</a:t>
            </a:r>
          </a:p>
          <a:p xmlns:a="http://schemas.openxmlformats.org/drawingml/2006/main">
            <a:r>
              <a:t>https://github.com/dingyucanada/cizheng-agent-skills/blob/main/docs/product-and-architecture.md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这页以真实保存记录说明业务链路。主视觉模型处理公开Met48607两图，StepFun step-3.7-flash只接批准的四字段文字包，没有原图或图像访问地址。两版NAT引用核查及JSON、Markdown、HTML导出有实际记录。专业问题仍待解决：初稿把同器Met18.61.4资料写为不适用本件，修订删除该句，时期与风格支持理由仍需专业复核，三项审查问题均保留未解决。流程完成不能作为鉴定准确率或Skills因果效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来源与范围</a:t>
            </a:r>
          </a:p>
          <a:p xmlns:a="http://schemas.openxmlformats.org/drawingml/2006/main">
            <a:r>
              <a:t>https://github.com/dingyucanada/cizheng-agent-skills/blob/main/verification/nvidia/v07-workflows/round-12/workflow-summary.json</a:t>
            </a:r>
          </a:p>
          <a:p xmlns:a="http://schemas.openxmlformats.org/drawingml/2006/main">
            <a:r>
              <a:t>https://github.com/dingyucanada/cizheng-agent-skills/blob/main/verification/nvidia/v07-workflows/round-12/quality-limitations-audit.json</a:t>
            </a:r>
          </a:p>
          <a:p xmlns:a="http://schemas.openxmlformats.org/drawingml/2006/main">
            <a:r>
              <a:t>https://github.com/dingyucanada/cizheng-agent-skills/blob/main/verification/nvidia/v07-workflows/round-12/text-review/executed.json</a:t>
            </a:r>
          </a:p>
          <a:p xmlns:a="http://schemas.openxmlformats.org/drawingml/2006/main">
            <a:r>
              <a:t>https://dingyucanada.github.io/cizheng-agent-skills/assets/cizheng-ai-replay-v07.mp4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七包均为真实自研文件包，按description、SKILL正文与资源渐进加载，每包有适用范围和限制。整包SHA不是专家认可或NVIDIA Verified认证。宿主限制工具权限、实际读取与进入成功主动作的材料、累计模型和工具预算。真实运行还有可选协调器材料准备，协调器加载与模型自然触发分别记录；本页不把协调器行为当作Skills自然触发或专业提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来源与范围</a:t>
            </a:r>
          </a:p>
          <a:p xmlns:a="http://schemas.openxmlformats.org/drawingml/2006/main">
            <a:r>
              <a:t>https://github.com/dingyucanada/cizheng-agent-skills/blob/main/skills/ceramic-route/SKILL.md</a:t>
            </a:r>
          </a:p>
          <a:p xmlns:a="http://schemas.openxmlformats.org/drawingml/2006/main">
            <a:r>
              <a:t>https://github.com/dingyucanada/cizheng-agent-skills/blob/main/skills/ceramic-research-record/SKILL.md</a:t>
            </a:r>
          </a:p>
          <a:p xmlns:a="http://schemas.openxmlformats.org/drawingml/2006/main">
            <a:r>
              <a:t>https://github.com/dingyucanada/cizheng-agent-skills/blob/main/skills/bluewhite-attribution-test/SKILL.md</a:t>
            </a:r>
          </a:p>
          <a:p xmlns:a="http://schemas.openxmlformats.org/drawingml/2006/main">
            <a:r>
              <a:t>https://github.com/dingyucanada/cizheng-agent-skills/blob/main/skills/condition-hypothesis-test/SKILL.md</a:t>
            </a:r>
          </a:p>
          <a:p xmlns:a="http://schemas.openxmlformats.org/drawingml/2006/main">
            <a:r>
              <a:t>https://github.com/dingyucanada/cizheng-agent-skills/blob/main/skills/provenance-evidence-audit/SKILL.md</a:t>
            </a:r>
          </a:p>
          <a:p xmlns:a="http://schemas.openxmlformats.org/drawingml/2006/main">
            <a:r>
              <a:t>https://github.com/dingyucanada/cizheng-agent-skills/blob/main/skills/documentary-evidence-audit/SKILL.md</a:t>
            </a:r>
          </a:p>
          <a:p xmlns:a="http://schemas.openxmlformats.org/drawingml/2006/main">
            <a:r>
              <a:t>https://github.com/dingyucanada/cizheng-agent-skills/blob/main/skills/evidence-revise/SKILL.md</a:t>
            </a:r>
          </a:p>
          <a:p xmlns:a="http://schemas.openxmlformats.org/drawingml/2006/main">
            <a:r>
              <a:t>https://github.com/dingyucanada/cizheng-agent-skills/blob/main/cizheng/skill_runtime.py</a:t>
            </a:r>
          </a:p>
          <a:p xmlns:a="http://schemas.openxmlformats.org/drawingml/2006/main">
            <a:r>
              <a:t>https://github.com/dingyucanada/cizheng-agent-skills/blob/main/docs/controlled-workflow.md</a:t>
            </a:r>
          </a:p>
          <a:p xmlns:a="http://schemas.openxmlformats.org/drawingml/2006/main">
            <a:r>
              <a:t>NVIDIA Agent Skills平台参考：https://docs.nvidia.com/skills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架构是原生可编辑对象与连接线。本地案卷使用SQLite保存原件、版本与回执，主视觉为Spark Qwen3-VL-8B。NAT经正式插件核查引用身份，不证明引用对专业结论的支持。StepFun只接明确批准的公开或脱敏文字。本轮NIM纯文本Qwen3-4B BF16为实际独立服务；TRT文字与官方Embedding+cuVS亦独立验收，主业务未自动切换。采集桥接是文件协议，不代表眼镜、手持仪器或桌面箱已完成厂商SDK与物理验收。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来源与范围</a:t>
            </a:r>
          </a:p>
          <a:p xmlns:a="http://schemas.openxmlformats.org/drawingml/2006/main">
            <a:r>
              <a:t>https://github.com/dingyucanada/cizheng-agent-skills/blob/main/docs/product-and-architecture.md</a:t>
            </a:r>
          </a:p>
          <a:p xmlns:a="http://schemas.openxmlformats.org/drawingml/2006/main">
            <a:r>
              <a:t>https://github.com/dingyucanada/cizheng-agent-skills/blob/main/docs/nvidia-integration.md</a:t>
            </a:r>
          </a:p>
          <a:p xmlns:a="http://schemas.openxmlformats.org/drawingml/2006/main">
            <a:r>
              <a:t>https://github.com/dingyucanada/cizheng-agent-skills/blob/main/docs/nim-v09-update.md</a:t>
            </a:r>
          </a:p>
          <a:p xmlns:a="http://schemas.openxmlformats.org/drawingml/2006/main">
            <a:r>
              <a:t>https://github.com/dingyucanada/cizheng-agent-skills/blob/main/docs/device-capture.md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主视觉Qwen3-VL-8B服务、案卷后端与独立文字/检索服务在Spark共存，模型与文件身份固定。NIM为合法官方中国分发路线的原厂SGLang Model-Free NIM Spark，保留原NIM入口，纯文字Qwen3-4B BF16，2026-09-29一次公开陶瓷POST经原NIM接口成功，CUDA trace、同容器进程与原请求/响应SHA绑定，有限八步采样不覆盖全请求。NIM模型把馆方文字记载称为独立实物证据，且多给补证项，此表证明实际运行，不证明专业质量。TensorRT-LLM使用PyTorch backend，没有序列化TRT engine。Embedding为开放官方1B v2加cuVS，而非Embedding NIM或完整SDK。其真实中文查询核验身份和数值，不代表专家相关性。未比较整案速度，未将单次文字延迟推成业务加速。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来源与范围</a:t>
            </a:r>
          </a:p>
          <a:p xmlns:a="http://schemas.openxmlformats.org/drawingml/2006/main">
            <a:r>
              <a:t>https://github.com/dingyucanada/cizheng-agent-skills/blob/main/docs/nim-v09-update.md</a:t>
            </a:r>
          </a:p>
          <a:p xmlns:a="http://schemas.openxmlformats.org/drawingml/2006/main">
            <a:r>
              <a:t>https://github.com/dingyucanada/cizheng-agent-skills/blob/main/evidence/nim-v09/public-text-once/receipt.json</a:t>
            </a:r>
          </a:p>
          <a:p xmlns:a="http://schemas.openxmlformats.org/drawingml/2006/main">
            <a:r>
              <a:t>https://github.com/dingyucanada/cizheng-agent-skills/blob/main/evidence/nim-v09/gpu-trace-summary.json</a:t>
            </a:r>
          </a:p>
          <a:p xmlns:a="http://schemas.openxmlformats.org/drawingml/2006/main">
            <a:r>
              <a:t>https://github.com/dingyucanada/cizheng-agent-skills/blob/main/verification/nvidia/tensorrt-llm-v08/README.md</a:t>
            </a:r>
          </a:p>
          <a:p xmlns:a="http://schemas.openxmlformats.org/drawingml/2006/main">
            <a:r>
              <a:t>https://github.com/dingyucanada/cizheng-agent-skills/blob/main/integrations/nvidia_retriever/README-open-service.md</a:t>
            </a:r>
          </a:p>
          <a:p xmlns:a="http://schemas.openxmlformats.org/drawingml/2006/main">
            <a:r>
              <a:t>https://github.com/dingyucanada/cizheng-agent-skills/blob/main/docs/spark-validation.md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筛查是已实现的独立CPU规则功能，不调用视觉模型或StepFun。结构化记载绑定本件凭据SHA和定位，自动比较年份/高度区间、同编号体系的本件编号、来源事件先后。每维只计一次，固定总权重100。矛盾指数为冲突权重，所有未知时不可评价；复核优先为冲突权重加0.5倍未知权重；覆盖为已评价权重除100。截图只用于演示软件协议，两份300–301与350–351毫米高度是合成数字，不是馆藏实测或照片测量。权重与模型依据尚未完成专家标签校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来源与范围</a:t>
            </a:r>
          </a:p>
          <a:p xmlns:a="http://schemas.openxmlformats.org/drawingml/2006/main">
            <a:r>
              <a:t>https://github.com/dingyucanada/cizheng-agent-skills/blob/main/docs/risk-triage.md</a:t>
            </a:r>
          </a:p>
          <a:p xmlns:a="http://schemas.openxmlformats.org/drawingml/2006/main">
            <a:r>
              <a:t>https://github.com/dingyucanada/cizheng-agent-skills/blob/main/cizheng/risk_triage.py</a:t>
            </a:r>
          </a:p>
          <a:p xmlns:a="http://schemas.openxmlformats.org/drawingml/2006/main">
            <a:r>
              <a:t>https://github.com/dingyucanada/cizheng-agent-skills/blob/main/site/assets/risk-workbench-v09.png</a:t>
            </a:r>
          </a:p>
          <a:p xmlns:a="http://schemas.openxmlformats.org/drawingml/2006/main">
            <a:r>
              <a:t>https://dingyucanada.github.io/cizheng-agent-skills/triage.html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整体照片能支持部分可见形态，但不能补造底足、款识或修复细节。本页的拍摄循环是产品逻辑，也是可编辑流程。现已实现统一本机multipart会话协议、客户端、SHA校验、原始blob、设备声明、时间/单位与归档回执，并通过真实本机HTTP上传下载保持公共图片原字节SHA。设备身份、相机时钟和传感器尚未厂商认证或实物标定。智能眼镜、专业手持和桌面箱先导出文件到本机桥接；厂商SDK、直接拍摄控制和箱式硬件为未来研究，当前不具备材料检测或物理鉴定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来源与范围</a:t>
            </a:r>
          </a:p>
          <a:p xmlns:a="http://schemas.openxmlformats.org/drawingml/2006/main">
            <a:r>
              <a:t>https://github.com/dingyucanada/cizheng-agent-skills/blob/main/docs/device-capture.md</a:t>
            </a:r>
          </a:p>
          <a:p xmlns:a="http://schemas.openxmlformats.org/drawingml/2006/main">
            <a:r>
              <a:t>https://github.com/dingyucanada/cizheng-agent-skills/blob/main/scripts/device-capture-client.py</a:t>
            </a:r>
          </a:p>
          <a:p xmlns:a="http://schemas.openxmlformats.org/drawingml/2006/main">
            <a:r>
              <a:t>https://github.com/dingyucanada/cizheng-agent-skills/blob/main/docs/risk-triage.md</a:t>
            </a:r>
          </a:p>
          <a:p xmlns:a="http://schemas.openxmlformats.org/drawingml/2006/main">
            <a:r>
              <a:t>图像：The Metropolitan Museum of Art，18.61.4，Public Domain / CC0。https://www.metmuseum.org/art/collection/search/48607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种入口已经以公共教学案演示材料工作，不代表真实机构委托或合作。当前为个人作品和单人受控试用。拟议试用从小范围案卷材料整理开始，以材料整理时间、关键疑点遗漏、专家复核可用性评估产品价值。商业模式是后续探索，不虚构客户、收入、团队或已签合作。多用户权限、可信专家签署、合规审计与灾备仍需产品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来源与范围</a:t>
            </a:r>
          </a:p>
          <a:p xmlns:a="http://schemas.openxmlformats.org/drawingml/2006/main">
            <a:r>
              <a:t>https://github.com/dingyucanada/cizheng-agent-skills/blob/main/README.md</a:t>
            </a:r>
          </a:p>
          <a:p xmlns:a="http://schemas.openxmlformats.org/drawingml/2006/main">
            <a:r>
              <a:t>https://github.com/dingyucanada/cizheng-agent-skills/blob/main/docs/product-and-architecture.md</a:t>
            </a:r>
          </a:p>
          <a:p xmlns:a="http://schemas.openxmlformats.org/drawingml/2006/main">
            <a:r>
              <a:t>https://github.com/dingyucanada/cizheng-agent-skills/blob/main/examples/public-demo/professional-cases.json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下一阶段研究路线，不是已取得的专家成绩。样本应取得授权并按器物分割，专家标签与首轮证据分开，避免同器照片泄漏到训练和测试两侧。专家分别评价图像观察、区域定位、资料引用、理由、补证和拒绝判断。固定模型、资料与预算后比较有/无Skills，保留失败并在独立保留样本上回归。NVFLARE联合训练与NeMo RL后训练是未来研究，没有联合训练网络、自动在线学习或专业准确率。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来源与范围</a:t>
            </a:r>
          </a:p>
          <a:p xmlns:a="http://schemas.openxmlformats.org/drawingml/2006/main">
            <a:r>
              <a:t>https://github.com/dingyucanada/cizheng-agent-skills/blob/main/docs/expert-validation-intake.md</a:t>
            </a:r>
          </a:p>
          <a:p xmlns:a="http://schemas.openxmlformats.org/drawingml/2006/main">
            <a:r>
              <a:t>https://github.com/dingyucanada/cizheng-agent-skills/blob/main/docs/training-implementation.md</a:t>
            </a:r>
          </a:p>
          <a:p xmlns:a="http://schemas.openxmlformats.org/drawingml/2006/main">
            <a:r>
              <a:t>https://github.com/dingyucanada/cizheng-agent-skills/blob/main/evals/PROTOCOL.md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个人参赛作品。完整报告呈现产品、实际模型记录与部署证据。公开教学体验无需上传，不调用私有模型。公开仓库保留自研方法包、代码与脱敏部署记录。来源机构和NVIDIA不代表对本项目的背书或专业鉴定认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来源与范围</a:t>
            </a:r>
          </a:p>
          <a:p xmlns:a="http://schemas.openxmlformats.org/drawingml/2006/main">
            <a:r>
              <a:t>https://dingyucanada.github.io/cizheng-agent-skills/report.html</a:t>
            </a:r>
          </a:p>
          <a:p xmlns:a="http://schemas.openxmlformats.org/drawingml/2006/main">
            <a:r>
              <a:t>https://dingyucanada.github.io/cizheng-agent-skills/demo.html</a:t>
            </a:r>
          </a:p>
          <a:p xmlns:a="http://schemas.openxmlformats.org/drawingml/2006/main">
            <a:r>
              <a:t>https://github.com/dingyucanada/cizheng-agent-skills</a:t>
            </a:r>
          </a:p>
          <a:p xmlns:a="http://schemas.openxmlformats.org/drawingml/2006/main">
            <a:r>
              <a:t>图像：The Metropolitan Museum of Art，61.200.30，Public Domain / CC0。https://www.metmuseum.org/art/collection/search/50839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c4d43faa5a4c5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e6379d03b024e30" /><Relationship Type="http://schemas.openxmlformats.org/officeDocument/2006/relationships/slideLayout" Target="/ppt/slideLayouts/slideLayout1.xml" Id="Re5f77640927b4a8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f77640927b4a8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瓷证">
      <a:dk1>
        <a:srgbClr val="000000"/>
      </a:dk1>
      <a:lt1>
        <a:srgbClr val="FFFFFF"/>
      </a:lt1>
      <a:dk2>
        <a:srgbClr val="132D49"/>
      </a:dk2>
      <a:lt2>
        <a:srgbClr val="EEF4F8"/>
      </a:lt2>
      <a:accent1>
        <a:srgbClr val="245B88"/>
      </a:accent1>
      <a:accent2>
        <a:srgbClr val="132D49"/>
      </a:accent2>
      <a:accent3>
        <a:srgbClr val="AE8B4A"/>
      </a:accent3>
      <a:accent4>
        <a:srgbClr val="5E7181"/>
      </a:accent4>
      <a:accent5>
        <a:srgbClr val="C7D5E0"/>
      </a:accent5>
      <a:accent6>
        <a:srgbClr val="C7D6E2"/>
      </a:accent6>
      <a:hlink>
        <a:srgbClr val="C7D6E2"/>
      </a:hlink>
      <a:folHlink>
        <a:srgbClr val="C7D6E2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瓷证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de94e964044e8c" /><Relationship Type="http://schemas.openxmlformats.org/officeDocument/2006/relationships/image" Target="/ppt/media/image.jpeg" Id="R5551aab303524e88" /><Relationship Type="http://schemas.openxmlformats.org/officeDocument/2006/relationships/notesSlide" Target="/ppt/notesSlides/notesSlide1.xml" Id="Reed48180ab304e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e4ac7f14ae45df" /><Relationship Type="http://schemas.openxmlformats.org/officeDocument/2006/relationships/image" Target="/ppt/media/image2.jpeg" Id="Ra92c8aba2dad4acd" /><Relationship Type="http://schemas.openxmlformats.org/officeDocument/2006/relationships/notesSlide" Target="/ppt/notesSlides/notesSlide2.xml" Id="Re39c477968a947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708e37862e4480" /><Relationship Type="http://schemas.openxmlformats.org/officeDocument/2006/relationships/image" Target="/ppt/media/image3.jpeg" Id="R2306221be668441d" /><Relationship Type="http://schemas.openxmlformats.org/officeDocument/2006/relationships/notesSlide" Target="/ppt/notesSlides/notesSlide3.xml" Id="R16ecac3060a44e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52a1007307437e" /><Relationship Type="http://schemas.openxmlformats.org/officeDocument/2006/relationships/notesSlide" Target="/ppt/notesSlides/notesSlide4.xml" Id="R36efb19c6cc545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7ece8183f94f10" /><Relationship Type="http://schemas.openxmlformats.org/officeDocument/2006/relationships/notesSlide" Target="/ppt/notesSlides/notesSlide5.xml" Id="R7e3fd5f3514842b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72334c819343d5" /><Relationship Type="http://schemas.openxmlformats.org/officeDocument/2006/relationships/notesSlide" Target="/ppt/notesSlides/notesSlide6.xml" Id="R902f92f2b042423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2b0909f0fd4fda" /><Relationship Type="http://schemas.openxmlformats.org/officeDocument/2006/relationships/notesSlide" Target="/ppt/notesSlides/notesSlide7.xml" Id="R5bf562e2fa15432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39d92c6ff44588" /><Relationship Type="http://schemas.openxmlformats.org/officeDocument/2006/relationships/image" Target="/ppt/media/image.png" Id="R3545bde7b14949dc" /><Relationship Type="http://schemas.openxmlformats.org/officeDocument/2006/relationships/notesSlide" Target="/ppt/notesSlides/notesSlide8.xml" Id="Raf59af2187ea4c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96d5246a346a6" /><Relationship Type="http://schemas.openxmlformats.org/officeDocument/2006/relationships/image" Target="/ppt/media/image4.jpeg" Id="Rb09cc0587bae4a8e" /><Relationship Type="http://schemas.openxmlformats.org/officeDocument/2006/relationships/notesSlide" Target="/ppt/notesSlides/notesSlide9.xml" Id="R4af8a26b1630470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6d7bd0a8154e70" /><Relationship Type="http://schemas.openxmlformats.org/officeDocument/2006/relationships/notesSlide" Target="/ppt/notesSlides/notesSlide10.xml" Id="R07b960982de44e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ab32d3a2d14116" /><Relationship Type="http://schemas.openxmlformats.org/officeDocument/2006/relationships/notesSlide" Target="/ppt/notesSlides/notesSlide11.xml" Id="R2f7d193f2dea42b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faadc56d264ce0" /><Relationship Type="http://schemas.openxmlformats.org/officeDocument/2006/relationships/image" Target="/ppt/media/image5.jpeg" Id="R1f310cf472714266" /><Relationship Type="http://schemas.openxmlformats.org/officeDocument/2006/relationships/hyperlink" Target="https://dingyucanada.github.io/cizheng-agent-skills/report.html" TargetMode="External" Id="Re2667c75ce144d50" /><Relationship Type="http://schemas.openxmlformats.org/officeDocument/2006/relationships/hyperlink" Target="https://dingyucanada.github.io/cizheng-agent-skills/demo.html" TargetMode="External" Id="Rf9277ba100dd40d1" /><Relationship Type="http://schemas.openxmlformats.org/officeDocument/2006/relationships/hyperlink" Target="https://github.com/dingyucanada/cizheng-agent-skills" TargetMode="External" Id="Rc8798fec3c2b43b4" /><Relationship Type="http://schemas.openxmlformats.org/officeDocument/2006/relationships/notesSlide" Target="/ppt/notesSlides/notesSlide12.xml" Id="Rdea85829b91541a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32D4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51aab303524e88"/>
          <a:srcRect xmlns:a="http://schemas.openxmlformats.org/drawingml/2006/main" l="0" t="3125" r="0" b="31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15200" y="0"/>
            <a:ext cx="48768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瓷证">
            <a:extLst xmlns:a="http://schemas.openxmlformats.org/drawingml/2006/main">
              <a:ext uri="{FF2B5EF4-FFF2-40B4-BE49-F238E27FC236}">
                <a16:creationId xmlns:a16="http://schemas.microsoft.com/office/drawing/2014/main" id="{7D80B05A-1329-4CFD-9629-5B88433B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09700"/>
            <a:ext cx="60198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72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瓷证</a:t>
            </a:r>
          </a:p>
        </p:txBody>
      </p:sp>
      <p:sp>
        <p:nvSpPr>
          <p:cNvPr id="3" name="陶瓷证据研究 Agent">
            <a:extLst xmlns:a="http://schemas.openxmlformats.org/drawingml/2006/main">
              <a:ext uri="{FF2B5EF4-FFF2-40B4-BE49-F238E27FC236}">
                <a16:creationId xmlns:a16="http://schemas.microsoft.com/office/drawing/2014/main" id="{FD29A6AF-BA75-4959-B3B0-2B5A7EE20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60388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陶瓷证据研究 Agent</a:t>
            </a:r>
          </a:p>
        </p:txBody>
      </p:sp>
      <p:sp>
        <p:nvSpPr>
          <p:cNvPr id="4" name="原件、观察与资料依据&#10;保存在一份可继续复核的案卷中">
            <a:extLst xmlns:a="http://schemas.openxmlformats.org/drawingml/2006/main">
              <a:ext uri="{FF2B5EF4-FFF2-40B4-BE49-F238E27FC236}">
                <a16:creationId xmlns:a16="http://schemas.microsoft.com/office/drawing/2014/main" id="{822062D7-5703-4916-B625-690EEF2D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59245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rPr>
              <a:t>原件、观察与资料依据</a:t>
            </a:r>
          </a:p>
          <a:p xmlns:a="http://schemas.openxmlformats.org/drawingml/2006/main">
            <a:pPr algn="l">
              <a:def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rPr>
              <a:t>保存在一份可继续复核的案卷中</a:t>
            </a:r>
          </a:p>
        </p:txBody>
      </p:sp>
      <p:sp>
        <p:nvSpPr>
          <p:cNvPr id="5" name="个人参赛作品  ·  2026.09">
            <a:extLst xmlns:a="http://schemas.openxmlformats.org/drawingml/2006/main">
              <a:ext uri="{FF2B5EF4-FFF2-40B4-BE49-F238E27FC236}">
                <a16:creationId xmlns:a16="http://schemas.microsoft.com/office/drawing/2014/main" id="{596981BE-ED58-4C8B-B4BF-519358E6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76950"/>
            <a:ext cx="590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rPr>
              <a:t>个人参赛作品  ·  2026.09</a:t>
            </a:r>
          </a:p>
        </p:txBody>
      </p:sp>
    </p:spTree>
    <p:extLst>
      <p:ext uri="{BB962C8B-B14F-4D97-AF65-F5344CB8AC3E}">
        <p14:creationId xmlns:p14="http://schemas.microsoft.com/office/powerpoint/2010/main" val="4454519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专业复核先要找回证据">
            <a:extLst xmlns:a="http://schemas.openxmlformats.org/drawingml/2006/main">
              <a:ext uri="{FF2B5EF4-FFF2-40B4-BE49-F238E27FC236}">
                <a16:creationId xmlns:a16="http://schemas.microsoft.com/office/drawing/2014/main" id="{AF3E1519-85D0-4438-8303-8D1FCF6B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专业复核先要找回证据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c8aba2dad4acd"/>
          <a:stretch xmlns:a="http://schemas.openxmlformats.org/drawingml/2006/main"/>
        </p:blipFill>
        <p:spPr>
          <a:xfrm xmlns:a="http://schemas.openxmlformats.org/drawingml/2006/main">
            <a:off x="7334250" y="2219325"/>
            <a:ext cx="4114800" cy="2743200"/>
          </a:xfrm>
          <a:prstGeom xmlns:a="http://schemas.openxmlformats.org/drawingml/2006/main" prst="rect">
            <a:avLst/>
          </a:prstGeom>
        </p:spPr>
      </p:pic>
      <p:sp>
        <p:nvSpPr>
          <p:cNvPr id="3" name="材料分散">
            <a:extLst xmlns:a="http://schemas.openxmlformats.org/drawingml/2006/main">
              <a:ext uri="{FF2B5EF4-FFF2-40B4-BE49-F238E27FC236}">
                <a16:creationId xmlns:a16="http://schemas.microsoft.com/office/drawing/2014/main" id="{4C38A95A-64EA-4BC5-9989-C6978275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62125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材料分散</a:t>
            </a:r>
          </a:p>
        </p:txBody>
      </p:sp>
      <p:sp>
        <p:nvSpPr>
          <p:cNvPr id="4" name="照片、来源记录与描述难以逐条对应">
            <a:extLst xmlns:a="http://schemas.openxmlformats.org/drawingml/2006/main">
              <a:ext uri="{FF2B5EF4-FFF2-40B4-BE49-F238E27FC236}">
                <a16:creationId xmlns:a16="http://schemas.microsoft.com/office/drawing/2014/main" id="{C4033CE9-2A35-4B64-B3EE-C085860B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14575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照片、来源记录与描述难以逐条对应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8654A8-E774-4248-9E58-C5AD5F200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05125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5E0"/>
            </a:solidFill>
          </a:ln>
        </p:spPr>
      </p:sp>
      <p:sp>
        <p:nvSpPr>
          <p:cNvPr id="6" name="理由难回查">
            <a:extLst xmlns:a="http://schemas.openxmlformats.org/drawingml/2006/main">
              <a:ext uri="{FF2B5EF4-FFF2-40B4-BE49-F238E27FC236}">
                <a16:creationId xmlns:a16="http://schemas.microsoft.com/office/drawing/2014/main" id="{F742A79B-4214-41AB-90F9-A85ECC90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理由难回查</a:t>
            </a:r>
          </a:p>
        </p:txBody>
      </p:sp>
      <p:sp>
        <p:nvSpPr>
          <p:cNvPr id="7" name="一句归属意见需要具体观察和资料段落">
            <a:extLst xmlns:a="http://schemas.openxmlformats.org/drawingml/2006/main">
              <a:ext uri="{FF2B5EF4-FFF2-40B4-BE49-F238E27FC236}">
                <a16:creationId xmlns:a16="http://schemas.microsoft.com/office/drawing/2014/main" id="{883E1ACB-1DD3-4C0A-8BAC-E77FDED0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385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一句归属意见需要具体观察和资料段落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F402E8-4D97-4DEB-B79F-90077A309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291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5E0"/>
            </a:solidFill>
          </a:ln>
        </p:spPr>
      </p:sp>
      <p:sp>
        <p:nvSpPr>
          <p:cNvPr id="9" name="补证缺少顺序">
            <a:extLst xmlns:a="http://schemas.openxmlformats.org/drawingml/2006/main">
              <a:ext uri="{FF2B5EF4-FFF2-40B4-BE49-F238E27FC236}">
                <a16:creationId xmlns:a16="http://schemas.microsoft.com/office/drawing/2014/main" id="{993AD8A5-C90F-4950-909B-01F57EAE8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0075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补证缺少顺序</a:t>
            </a:r>
          </a:p>
        </p:txBody>
      </p:sp>
      <p:sp>
        <p:nvSpPr>
          <p:cNvPr id="10" name="下一张照片应回应当前证据缺口">
            <a:extLst xmlns:a="http://schemas.openxmlformats.org/drawingml/2006/main">
              <a:ext uri="{FF2B5EF4-FFF2-40B4-BE49-F238E27FC236}">
                <a16:creationId xmlns:a16="http://schemas.microsoft.com/office/drawing/2014/main" id="{70D79020-9AA6-45AE-9209-DB402645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62525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下一张照片应回应当前证据缺口</a:t>
            </a:r>
          </a:p>
        </p:txBody>
      </p:sp>
      <p:sp>
        <p:nvSpPr>
          <p:cNvPr id="11" name="交付目标：一条可回到原图、原文件和出处的研究路径">
            <a:extLst xmlns:a="http://schemas.openxmlformats.org/drawingml/2006/main">
              <a:ext uri="{FF2B5EF4-FFF2-40B4-BE49-F238E27FC236}">
                <a16:creationId xmlns:a16="http://schemas.microsoft.com/office/drawing/2014/main" id="{818385F8-4F1C-4F06-9C84-F22180C5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34075"/>
            <a:ext cx="10572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rPr>
              <a:t>交付目标：一条可回到原图、原文件和出处的研究路径</a:t>
            </a:r>
          </a:p>
        </p:txBody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293DAC54-CFD0-494A-84EE-16FD1860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004548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一份案卷承接整段研究工作">
            <a:extLst xmlns:a="http://schemas.openxmlformats.org/drawingml/2006/main">
              <a:ext uri="{FF2B5EF4-FFF2-40B4-BE49-F238E27FC236}">
                <a16:creationId xmlns:a16="http://schemas.microsoft.com/office/drawing/2014/main" id="{CE50E065-48C4-4273-AEB3-C97BCE05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一份案卷承接整段研究工作</a:t>
            </a:r>
          </a:p>
        </p:txBody>
      </p:sp>
      <p:sp>
        <p:nvSpPr>
          <p:cNvPr id="2" name="原图定位、资料阅读和待补证，直接对应到同一件器物">
            <a:extLst xmlns:a="http://schemas.openxmlformats.org/drawingml/2006/main">
              <a:ext uri="{FF2B5EF4-FFF2-40B4-BE49-F238E27FC236}">
                <a16:creationId xmlns:a16="http://schemas.microsoft.com/office/drawing/2014/main" id="{36F78CEA-25FA-4AA6-9970-275A6674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5730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原图定位、资料阅读和待补证，直接对应到同一件器物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06221be668441d"/>
          <a:srcRect xmlns:a="http://schemas.openxmlformats.org/drawingml/2006/main" l="16600" t="8300" r="0" b="0"/>
          <a:stretch xmlns:a="http://schemas.openxmlformats.org/drawingml/2006/main"/>
        </p:blipFill>
        <p:spPr>
          <a:xfrm xmlns:a="http://schemas.openxmlformats.org/drawingml/2006/main">
            <a:off x="628650" y="1885950"/>
            <a:ext cx="8610600" cy="4210050"/>
          </a:xfrm>
          <a:prstGeom xmlns:a="http://schemas.openxmlformats.org/drawingml/2006/main" prst="rect">
            <a:avLst/>
          </a:prstGeom>
        </p:spPr>
      </p:pic>
      <p:sp>
        <p:nvSpPr>
          <p:cNvPr id="4" name="原件">
            <a:extLst xmlns:a="http://schemas.openxmlformats.org/drawingml/2006/main">
              <a:ext uri="{FF2B5EF4-FFF2-40B4-BE49-F238E27FC236}">
                <a16:creationId xmlns:a16="http://schemas.microsoft.com/office/drawing/2014/main" id="{A9FE1B26-50E2-49C5-B1C5-648A94E3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105025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原件</a:t>
            </a:r>
          </a:p>
        </p:txBody>
      </p:sp>
      <p:sp>
        <p:nvSpPr>
          <p:cNvPr id="5" name="SHA 与来源&#10;保留原始字节">
            <a:extLst xmlns:a="http://schemas.openxmlformats.org/drawingml/2006/main">
              <a:ext uri="{FF2B5EF4-FFF2-40B4-BE49-F238E27FC236}">
                <a16:creationId xmlns:a16="http://schemas.microsoft.com/office/drawing/2014/main" id="{921207C2-C5AD-4DD6-BCF1-4A19D8D99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09850"/>
            <a:ext cx="1885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SHA 与来源</a:t>
            </a:r>
          </a:p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保留原始字节</a:t>
            </a:r>
          </a:p>
        </p:txBody>
      </p:sp>
      <p:sp>
        <p:nvSpPr>
          <p:cNvPr id="6" name="观察">
            <a:extLst xmlns:a="http://schemas.openxmlformats.org/drawingml/2006/main">
              <a:ext uri="{FF2B5EF4-FFF2-40B4-BE49-F238E27FC236}">
                <a16:creationId xmlns:a16="http://schemas.microsoft.com/office/drawing/2014/main" id="{0F88337A-E10C-4D03-92C4-17CD6107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71475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观察</a:t>
            </a:r>
          </a:p>
        </p:txBody>
      </p:sp>
      <p:sp>
        <p:nvSpPr>
          <p:cNvPr id="7" name="区域有位置&#10;理由可回查">
            <a:extLst xmlns:a="http://schemas.openxmlformats.org/drawingml/2006/main">
              <a:ext uri="{FF2B5EF4-FFF2-40B4-BE49-F238E27FC236}">
                <a16:creationId xmlns:a16="http://schemas.microsoft.com/office/drawing/2014/main" id="{0D6D01AC-770E-4703-B983-660BA26B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219575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区域有位置</a:t>
            </a:r>
          </a:p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理由可回查</a:t>
            </a:r>
          </a:p>
        </p:txBody>
      </p:sp>
      <p:sp>
        <p:nvSpPr>
          <p:cNvPr id="8" name="版本">
            <a:extLst xmlns:a="http://schemas.openxmlformats.org/drawingml/2006/main">
              <a:ext uri="{FF2B5EF4-FFF2-40B4-BE49-F238E27FC236}">
                <a16:creationId xmlns:a16="http://schemas.microsoft.com/office/drawing/2014/main" id="{C8084734-3140-44FD-8D06-6853A93B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324475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版本</a:t>
            </a:r>
          </a:p>
        </p:txBody>
      </p:sp>
      <p:sp>
        <p:nvSpPr>
          <p:cNvPr id="9" name="补证后保留历史">
            <a:extLst xmlns:a="http://schemas.openxmlformats.org/drawingml/2006/main">
              <a:ext uri="{FF2B5EF4-FFF2-40B4-BE49-F238E27FC236}">
                <a16:creationId xmlns:a16="http://schemas.microsoft.com/office/drawing/2014/main" id="{E07724AE-ACAA-4D0F-B743-26E34050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810250"/>
            <a:ext cx="2000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补证后保留历史</a:t>
            </a:r>
          </a:p>
        </p:txBody>
      </p:sp>
      <p:sp>
        <p:nvSpPr>
          <p:cNvPr id="10" name="03">
            <a:extLst xmlns:a="http://schemas.openxmlformats.org/drawingml/2006/main">
              <a:ext uri="{FF2B5EF4-FFF2-40B4-BE49-F238E27FC236}">
                <a16:creationId xmlns:a16="http://schemas.microsoft.com/office/drawing/2014/main" id="{CF8D1D7A-6C4E-4385-8D27-2B3602C1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852405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真实案卷的审查与修订闭环">
            <a:extLst xmlns:a="http://schemas.openxmlformats.org/drawingml/2006/main">
              <a:ext uri="{FF2B5EF4-FFF2-40B4-BE49-F238E27FC236}">
                <a16:creationId xmlns:a16="http://schemas.microsoft.com/office/drawing/2014/main" id="{08150B9F-19B9-4639-B5DA-3FB9CDB6C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真实案卷的审查与修订闭环</a:t>
            </a:r>
          </a:p>
        </p:txBody>
      </p:sp>
      <p:sp>
        <p:nvSpPr>
          <p:cNvPr id="2" name="公开双图案卷已经保存初稿、文字审查、本地回查与导出">
            <a:extLst xmlns:a="http://schemas.openxmlformats.org/drawingml/2006/main">
              <a:ext uri="{FF2B5EF4-FFF2-40B4-BE49-F238E27FC236}">
                <a16:creationId xmlns:a16="http://schemas.microsoft.com/office/drawing/2014/main" id="{6EE506E2-880A-4F23-8655-F9B99704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57300"/>
            <a:ext cx="10810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公开双图案卷已经保存初稿、文字审查、本地回查与导出</a:t>
            </a:r>
          </a:p>
        </p:txBody>
      </p:sp>
      <p:sp>
        <p:nvSpPr>
          <p:cNvPr id="3" name="原件与资料">
            <a:extLst xmlns:a="http://schemas.openxmlformats.org/drawingml/2006/main">
              <a:ext uri="{FF2B5EF4-FFF2-40B4-BE49-F238E27FC236}">
                <a16:creationId xmlns:a16="http://schemas.microsoft.com/office/drawing/2014/main" id="{9DA8BB54-06E0-4B1E-9581-C3A09850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47900"/>
            <a:ext cx="201930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原件与资料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双图进入本地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固定正文与回执</a:t>
            </a:r>
          </a:p>
        </p:txBody>
      </p:sp>
      <p:sp>
        <p:nvSpPr>
          <p:cNvPr id="4" name="本地研究">
            <a:extLst xmlns:a="http://schemas.openxmlformats.org/drawingml/2006/main">
              <a:ext uri="{FF2B5EF4-FFF2-40B4-BE49-F238E27FC236}">
                <a16:creationId xmlns:a16="http://schemas.microsoft.com/office/drawing/2014/main" id="{C0473E5E-54C6-407F-8D14-8A5172AEC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47900"/>
            <a:ext cx="201930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本地研究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可定位观察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分项理由与缺口</a:t>
            </a:r>
          </a:p>
        </p:txBody>
      </p:sp>
      <p:sp>
        <p:nvSpPr>
          <p:cNvPr id="5" name="文字审查">
            <a:extLst xmlns:a="http://schemas.openxmlformats.org/drawingml/2006/main">
              <a:ext uri="{FF2B5EF4-FFF2-40B4-BE49-F238E27FC236}">
                <a16:creationId xmlns:a16="http://schemas.microsoft.com/office/drawing/2014/main" id="{C51F4248-7EE7-42EE-8675-F3C5ECA4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47900"/>
            <a:ext cx="201930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文字审查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StepFun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只接批准文字</a:t>
            </a:r>
          </a:p>
        </p:txBody>
      </p:sp>
      <p:sp>
        <p:nvSpPr>
          <p:cNvPr id="6" name="复看与修订">
            <a:extLst xmlns:a="http://schemas.openxmlformats.org/drawingml/2006/main">
              <a:ext uri="{FF2B5EF4-FFF2-40B4-BE49-F238E27FC236}">
                <a16:creationId xmlns:a16="http://schemas.microsoft.com/office/drawing/2014/main" id="{C77DBE83-4090-45D1-91E2-6FB94471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247900"/>
            <a:ext cx="201930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复看与修订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回查原图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逐项回应问题</a:t>
            </a:r>
          </a:p>
        </p:txBody>
      </p:sp>
      <p:sp>
        <p:nvSpPr>
          <p:cNvPr id="7" name="交接案卷">
            <a:extLst xmlns:a="http://schemas.openxmlformats.org/drawingml/2006/main">
              <a:ext uri="{FF2B5EF4-FFF2-40B4-BE49-F238E27FC236}">
                <a16:creationId xmlns:a16="http://schemas.microsoft.com/office/drawing/2014/main" id="{B1E75EFF-16A4-4F7F-923C-39C66D422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247900"/>
            <a:ext cx="201930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交接案卷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报告与原件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保留两版历史</a:t>
            </a:r>
          </a:p>
        </p:txBody>
      </p:sp>
      <p:cxnSp>
        <p:nvCxnSpPr>
          <p:cNvPr id="25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647950" y="2976563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857750" y="2976563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067550" y="2976563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277350" y="2976563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sp>
        <p:nvSpPr>
          <p:cNvPr id="12" name="审查提出的问题">
            <a:extLst xmlns:a="http://schemas.openxmlformats.org/drawingml/2006/main">
              <a:ext uri="{FF2B5EF4-FFF2-40B4-BE49-F238E27FC236}">
                <a16:creationId xmlns:a16="http://schemas.microsoft.com/office/drawing/2014/main" id="{FE8534EB-7320-40E8-B6EB-64AA568B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71975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审查提出的问题</a:t>
            </a:r>
          </a:p>
        </p:txBody>
      </p:sp>
      <p:sp>
        <p:nvSpPr>
          <p:cNvPr id="13" name="“风格主张无具体特征比对依据”">
            <a:extLst xmlns:a="http://schemas.openxmlformats.org/drawingml/2006/main">
              <a:ext uri="{FF2B5EF4-FFF2-40B4-BE49-F238E27FC236}">
                <a16:creationId xmlns:a16="http://schemas.microsoft.com/office/drawing/2014/main" id="{B1FE4C5D-C5FE-473C-A914-37806909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43475"/>
            <a:ext cx="5257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“风格主张无具体特征比对依据”</a:t>
            </a:r>
          </a:p>
        </p:txBody>
      </p:sp>
      <p:sp>
        <p:nvSpPr>
          <p:cNvPr id="14" name="修订保留的状态">
            <a:extLst xmlns:a="http://schemas.openxmlformats.org/drawingml/2006/main">
              <a:ext uri="{FF2B5EF4-FFF2-40B4-BE49-F238E27FC236}">
                <a16:creationId xmlns:a16="http://schemas.microsoft.com/office/drawing/2014/main" id="{9101F545-6D6A-42CC-AB37-F9CB0712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7197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修订保留的状态</a:t>
            </a:r>
          </a:p>
        </p:txBody>
      </p:sp>
      <p:sp>
        <p:nvSpPr>
          <p:cNvPr id="15" name="制作时期、窑口与风格仍为证据不足&#10;待补证问题与原初稿继续可回查">
            <a:extLst xmlns:a="http://schemas.openxmlformats.org/drawingml/2006/main">
              <a:ext uri="{FF2B5EF4-FFF2-40B4-BE49-F238E27FC236}">
                <a16:creationId xmlns:a16="http://schemas.microsoft.com/office/drawing/2014/main" id="{1D55BCCE-2511-4279-99CC-F19244C5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943475"/>
            <a:ext cx="50577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制作时期、窑口与风格仍为证据不足</a:t>
            </a:r>
          </a:p>
          <a:p xmlns:a="http://schemas.openxmlformats.org/drawingml/2006/main">
            <a:pPr algn="l">
              <a:def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待补证问题与原初稿继续可回查</a:t>
            </a:r>
          </a:p>
        </p:txBody>
      </p:sp>
      <p:sp>
        <p:nvSpPr>
          <p:cNvPr id="16" name="本例仍有资料对应和论据支持问题，独立专家评价列入下一阶段">
            <a:extLst xmlns:a="http://schemas.openxmlformats.org/drawingml/2006/main">
              <a:ext uri="{FF2B5EF4-FFF2-40B4-BE49-F238E27FC236}">
                <a16:creationId xmlns:a16="http://schemas.microsoft.com/office/drawing/2014/main" id="{CC36271C-7FC2-4463-B614-E9EB9B50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24575"/>
            <a:ext cx="1064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本例仍有资料对应和论据支持问题，独立专家评价列入下一阶段</a:t>
            </a:r>
          </a:p>
        </p:txBody>
      </p:sp>
      <p:sp>
        <p:nvSpPr>
          <p:cNvPr id="17" name="04">
            <a:extLst xmlns:a="http://schemas.openxmlformats.org/drawingml/2006/main">
              <a:ext uri="{FF2B5EF4-FFF2-40B4-BE49-F238E27FC236}">
                <a16:creationId xmlns:a16="http://schemas.microsoft.com/office/drawing/2014/main" id="{8E4FCC0A-4CE9-4A86-B056-AC9CD1D7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1241813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Agent Skills 把方法写成执行步骤">
            <a:extLst xmlns:a="http://schemas.openxmlformats.org/drawingml/2006/main">
              <a:ext uri="{FF2B5EF4-FFF2-40B4-BE49-F238E27FC236}">
                <a16:creationId xmlns:a16="http://schemas.microsoft.com/office/drawing/2014/main" id="{4616D3BD-1171-4806-9922-40AE5D35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Agent Skills 把方法写成执行步骤</a:t>
            </a:r>
          </a:p>
        </p:txBody>
      </p:sp>
      <p:sp>
        <p:nvSpPr>
          <p:cNvPr id="2" name="7 个自研领域方法包">
            <a:extLst xmlns:a="http://schemas.openxmlformats.org/drawingml/2006/main">
              <a:ext uri="{FF2B5EF4-FFF2-40B4-BE49-F238E27FC236}">
                <a16:creationId xmlns:a16="http://schemas.microsoft.com/office/drawing/2014/main" id="{7011B1B9-EDEC-44A9-BF93-05AD3E2F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85900"/>
            <a:ext cx="5095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7 个自研领域方法包</a:t>
            </a:r>
          </a:p>
        </p:txBody>
      </p:sp>
      <p:sp>
        <p:nvSpPr>
          <p:cNvPr id="3" name="任务与补拍路由">
            <a:extLst xmlns:a="http://schemas.openxmlformats.org/drawingml/2006/main">
              <a:ext uri="{FF2B5EF4-FFF2-40B4-BE49-F238E27FC236}">
                <a16:creationId xmlns:a16="http://schemas.microsoft.com/office/drawing/2014/main" id="{CEC7724A-E23F-4736-973D-32AC58289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任务与补拍路由</a:t>
            </a:r>
          </a:p>
        </p:txBody>
      </p:sp>
      <p:sp>
        <p:nvSpPr>
          <p:cNvPr id="4" name="确认任务和缺失部位">
            <a:extLst xmlns:a="http://schemas.openxmlformats.org/drawingml/2006/main">
              <a:ext uri="{FF2B5EF4-FFF2-40B4-BE49-F238E27FC236}">
                <a16:creationId xmlns:a16="http://schemas.microsoft.com/office/drawing/2014/main" id="{C42AEFDC-D9BD-467B-82FF-C3BFF214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3360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确认任务和缺失部位</a:t>
            </a:r>
          </a:p>
        </p:txBody>
      </p:sp>
      <p:sp>
        <p:nvSpPr>
          <p:cNvPr id="5" name="陶瓷编目研究">
            <a:extLst xmlns:a="http://schemas.openxmlformats.org/drawingml/2006/main">
              <a:ext uri="{FF2B5EF4-FFF2-40B4-BE49-F238E27FC236}">
                <a16:creationId xmlns:a16="http://schemas.microsoft.com/office/drawing/2014/main" id="{0FC8113D-A69B-4957-B826-80DA45A0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5747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陶瓷编目研究</a:t>
            </a:r>
          </a:p>
        </p:txBody>
      </p:sp>
      <p:sp>
        <p:nvSpPr>
          <p:cNvPr id="6" name="分开观察、记载与主张">
            <a:extLst xmlns:a="http://schemas.openxmlformats.org/drawingml/2006/main">
              <a:ext uri="{FF2B5EF4-FFF2-40B4-BE49-F238E27FC236}">
                <a16:creationId xmlns:a16="http://schemas.microsoft.com/office/drawing/2014/main" id="{BBBA6BC4-5613-4128-9697-FE16E140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57475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分开观察、记载与主张</a:t>
            </a:r>
          </a:p>
        </p:txBody>
      </p:sp>
      <p:sp>
        <p:nvSpPr>
          <p:cNvPr id="7" name="青花比较研究">
            <a:extLst xmlns:a="http://schemas.openxmlformats.org/drawingml/2006/main">
              <a:ext uri="{FF2B5EF4-FFF2-40B4-BE49-F238E27FC236}">
                <a16:creationId xmlns:a16="http://schemas.microsoft.com/office/drawing/2014/main" id="{FFD36518-C20C-4634-9A44-1E46AD1B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813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青花比较研究</a:t>
            </a:r>
          </a:p>
        </p:txBody>
      </p:sp>
      <p:sp>
        <p:nvSpPr>
          <p:cNvPr id="8" name="记录反例与竞争解释">
            <a:extLst xmlns:a="http://schemas.openxmlformats.org/drawingml/2006/main">
              <a:ext uri="{FF2B5EF4-FFF2-40B4-BE49-F238E27FC236}">
                <a16:creationId xmlns:a16="http://schemas.microsoft.com/office/drawing/2014/main" id="{1B1F80A4-B216-48BF-BB01-C7C27EA9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813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记录反例与竞争解释</a:t>
            </a:r>
          </a:p>
        </p:txBody>
      </p:sp>
      <p:sp>
        <p:nvSpPr>
          <p:cNvPr id="9" name="状况竞争解释">
            <a:extLst xmlns:a="http://schemas.openxmlformats.org/drawingml/2006/main">
              <a:ext uri="{FF2B5EF4-FFF2-40B4-BE49-F238E27FC236}">
                <a16:creationId xmlns:a16="http://schemas.microsoft.com/office/drawing/2014/main" id="{49C03E1F-99F3-4C64-B9BB-909A109E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052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状况竞争解释</a:t>
            </a:r>
          </a:p>
        </p:txBody>
      </p:sp>
      <p:sp>
        <p:nvSpPr>
          <p:cNvPr id="10" name="提出可检查的假说">
            <a:extLst xmlns:a="http://schemas.openxmlformats.org/drawingml/2006/main">
              <a:ext uri="{FF2B5EF4-FFF2-40B4-BE49-F238E27FC236}">
                <a16:creationId xmlns:a16="http://schemas.microsoft.com/office/drawing/2014/main" id="{D25EAA79-BEB2-487F-99A6-37DD9EBAB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705225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提出可检查的假说</a:t>
            </a:r>
          </a:p>
        </p:txBody>
      </p:sp>
      <p:sp>
        <p:nvSpPr>
          <p:cNvPr id="11" name="来源经历核查">
            <a:extLst xmlns:a="http://schemas.openxmlformats.org/drawingml/2006/main">
              <a:ext uri="{FF2B5EF4-FFF2-40B4-BE49-F238E27FC236}">
                <a16:creationId xmlns:a16="http://schemas.microsoft.com/office/drawing/2014/main" id="{8B324978-8722-4E5F-A525-69209FE7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291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来源经历核查</a:t>
            </a:r>
          </a:p>
        </p:txBody>
      </p:sp>
      <p:sp>
        <p:nvSpPr>
          <p:cNvPr id="12" name="核对事件与本件凭据">
            <a:extLst xmlns:a="http://schemas.openxmlformats.org/drawingml/2006/main">
              <a:ext uri="{FF2B5EF4-FFF2-40B4-BE49-F238E27FC236}">
                <a16:creationId xmlns:a16="http://schemas.microsoft.com/office/drawing/2014/main" id="{6CD218DF-6641-4333-BB12-4349438E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2910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核对事件与本件凭据</a:t>
            </a:r>
          </a:p>
        </p:txBody>
      </p:sp>
      <p:sp>
        <p:nvSpPr>
          <p:cNvPr id="13" name="文字凭据核查">
            <a:extLst xmlns:a="http://schemas.openxmlformats.org/drawingml/2006/main">
              <a:ext uri="{FF2B5EF4-FFF2-40B4-BE49-F238E27FC236}">
                <a16:creationId xmlns:a16="http://schemas.microsoft.com/office/drawing/2014/main" id="{11478BA9-478B-461E-8EDE-17E851D71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5297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文字凭据核查</a:t>
            </a:r>
          </a:p>
        </p:txBody>
      </p:sp>
      <p:sp>
        <p:nvSpPr>
          <p:cNvPr id="14" name="分列相符、冲突和缺失">
            <a:extLst xmlns:a="http://schemas.openxmlformats.org/drawingml/2006/main">
              <a:ext uri="{FF2B5EF4-FFF2-40B4-BE49-F238E27FC236}">
                <a16:creationId xmlns:a16="http://schemas.microsoft.com/office/drawing/2014/main" id="{598E4FDB-D2D9-4DD8-9605-D02AAAA13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752975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分列相符、冲突和缺失</a:t>
            </a:r>
          </a:p>
        </p:txBody>
      </p:sp>
      <p:sp>
        <p:nvSpPr>
          <p:cNvPr id="15" name="补证与版本修订">
            <a:extLst xmlns:a="http://schemas.openxmlformats.org/drawingml/2006/main">
              <a:ext uri="{FF2B5EF4-FFF2-40B4-BE49-F238E27FC236}">
                <a16:creationId xmlns:a16="http://schemas.microsoft.com/office/drawing/2014/main" id="{BA57CE89-A4C7-455D-9A74-F0732833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768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补证与版本修订</a:t>
            </a:r>
          </a:p>
        </p:txBody>
      </p:sp>
      <p:sp>
        <p:nvSpPr>
          <p:cNvPr id="16" name="解释新证据改变了什么">
            <a:extLst xmlns:a="http://schemas.openxmlformats.org/drawingml/2006/main">
              <a:ext uri="{FF2B5EF4-FFF2-40B4-BE49-F238E27FC236}">
                <a16:creationId xmlns:a16="http://schemas.microsoft.com/office/drawing/2014/main" id="{D22B109C-9C8C-4CD3-A975-BB46BDDE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768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解释新证据改变了什么</a:t>
            </a:r>
          </a:p>
        </p:txBody>
      </p:sp>
      <p:sp>
        <p:nvSpPr>
          <p:cNvPr id="17" name="发现描述">
            <a:extLst xmlns:a="http://schemas.openxmlformats.org/drawingml/2006/main">
              <a:ext uri="{FF2B5EF4-FFF2-40B4-BE49-F238E27FC236}">
                <a16:creationId xmlns:a16="http://schemas.microsoft.com/office/drawing/2014/main" id="{D8B8A280-11EC-43E7-868C-09C916747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24025"/>
            <a:ext cx="161925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8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发现描述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先选适用方法</a:t>
            </a:r>
          </a:p>
        </p:txBody>
      </p:sp>
      <p:sp>
        <p:nvSpPr>
          <p:cNvPr id="18" name="读取正文">
            <a:extLst xmlns:a="http://schemas.openxmlformats.org/drawingml/2006/main">
              <a:ext uri="{FF2B5EF4-FFF2-40B4-BE49-F238E27FC236}">
                <a16:creationId xmlns:a16="http://schemas.microsoft.com/office/drawing/2014/main" id="{82DB4F44-6A84-4EAC-A665-3492258E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724025"/>
            <a:ext cx="161925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8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读取正文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执行研究步骤</a:t>
            </a:r>
          </a:p>
        </p:txBody>
      </p:sp>
      <p:sp>
        <p:nvSpPr>
          <p:cNvPr id="19" name="按需资源">
            <a:extLst xmlns:a="http://schemas.openxmlformats.org/drawingml/2006/main">
              <a:ext uri="{FF2B5EF4-FFF2-40B4-BE49-F238E27FC236}">
                <a16:creationId xmlns:a16="http://schemas.microsoft.com/office/drawing/2014/main" id="{4AE23EEB-208E-4E60-8A30-355B872E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724025"/>
            <a:ext cx="161925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8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按需资源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参考与检查</a:t>
            </a:r>
          </a:p>
        </p:txBody>
      </p:sp>
      <p:cxnSp>
        <p:nvCxnSpPr>
          <p:cNvPr id="49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905750" y="2252663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696450" y="2252663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sp>
        <p:nvSpPr>
          <p:cNvPr id="22" name="版本可回放">
            <a:extLst xmlns:a="http://schemas.openxmlformats.org/drawingml/2006/main">
              <a:ext uri="{FF2B5EF4-FFF2-40B4-BE49-F238E27FC236}">
                <a16:creationId xmlns:a16="http://schemas.microsoft.com/office/drawing/2014/main" id="{F9F87ED4-4B42-4C26-89E3-17026760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67075"/>
            <a:ext cx="521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版本可回放</a:t>
            </a:r>
          </a:p>
        </p:txBody>
      </p:sp>
      <p:sp>
        <p:nvSpPr>
          <p:cNvPr id="23" name="整包 SHA 固定实际采用的方法与资源">
            <a:extLst xmlns:a="http://schemas.openxmlformats.org/drawingml/2006/main">
              <a:ext uri="{FF2B5EF4-FFF2-40B4-BE49-F238E27FC236}">
                <a16:creationId xmlns:a16="http://schemas.microsoft.com/office/drawing/2014/main" id="{72725009-A705-4986-8D76-052B3A12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05225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整包 SHA 固定实际采用的方法与资源</a:t>
            </a:r>
          </a:p>
        </p:txBody>
      </p:sp>
      <p:sp>
        <p:nvSpPr>
          <p:cNvPr id="24" name="权限由宿主执行">
            <a:extLst xmlns:a="http://schemas.openxmlformats.org/drawingml/2006/main">
              <a:ext uri="{FF2B5EF4-FFF2-40B4-BE49-F238E27FC236}">
                <a16:creationId xmlns:a16="http://schemas.microsoft.com/office/drawing/2014/main" id="{488CF0D3-AEE7-4719-AEEB-C7461831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10050"/>
            <a:ext cx="521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权限由宿主执行</a:t>
            </a:r>
          </a:p>
        </p:txBody>
      </p:sp>
      <p:sp>
        <p:nvSpPr>
          <p:cNvPr id="25" name="注册工具、真实读回执与累计预算共同约束">
            <a:extLst xmlns:a="http://schemas.openxmlformats.org/drawingml/2006/main">
              <a:ext uri="{FF2B5EF4-FFF2-40B4-BE49-F238E27FC236}">
                <a16:creationId xmlns:a16="http://schemas.microsoft.com/office/drawing/2014/main" id="{1922078E-C1AF-48F0-B6F5-E7ACB9D5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48200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注册工具、真实读回执与累计预算共同约束</a:t>
            </a:r>
          </a:p>
        </p:txBody>
      </p:sp>
      <p:sp>
        <p:nvSpPr>
          <p:cNvPr id="26" name="意见对应证据">
            <a:extLst xmlns:a="http://schemas.openxmlformats.org/drawingml/2006/main">
              <a:ext uri="{FF2B5EF4-FFF2-40B4-BE49-F238E27FC236}">
                <a16:creationId xmlns:a16="http://schemas.microsoft.com/office/drawing/2014/main" id="{0789F0B9-30D3-4CC2-A324-DA379C418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53025"/>
            <a:ext cx="521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意见对应证据</a:t>
            </a:r>
          </a:p>
        </p:txBody>
      </p:sp>
      <p:sp>
        <p:nvSpPr>
          <p:cNvPr id="27" name="本轮观察编号与实际阅读段落绑定">
            <a:extLst xmlns:a="http://schemas.openxmlformats.org/drawingml/2006/main">
              <a:ext uri="{FF2B5EF4-FFF2-40B4-BE49-F238E27FC236}">
                <a16:creationId xmlns:a16="http://schemas.microsoft.com/office/drawing/2014/main" id="{FC814CB6-77AB-4732-B13F-9226F91B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91175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本轮观察编号与实际阅读段落绑定</a:t>
            </a:r>
          </a:p>
        </p:txBody>
      </p:sp>
      <p:sp>
        <p:nvSpPr>
          <p:cNvPr id="28" name="领域包由项目开发，专业方法效果将在同模型、同预算评测中验证">
            <a:extLst xmlns:a="http://schemas.openxmlformats.org/drawingml/2006/main">
              <a:ext uri="{FF2B5EF4-FFF2-40B4-BE49-F238E27FC236}">
                <a16:creationId xmlns:a16="http://schemas.microsoft.com/office/drawing/2014/main" id="{89D2D70F-33A5-4458-A228-9172652A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53150"/>
            <a:ext cx="1066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领域包由项目开发，专业方法效果将在同模型、同预算评测中验证</a:t>
            </a:r>
          </a:p>
        </p:txBody>
      </p:sp>
      <p:sp>
        <p:nvSpPr>
          <p:cNvPr id="29" name="05">
            <a:extLst xmlns:a="http://schemas.openxmlformats.org/drawingml/2006/main">
              <a:ext uri="{FF2B5EF4-FFF2-40B4-BE49-F238E27FC236}">
                <a16:creationId xmlns:a16="http://schemas.microsoft.com/office/drawing/2014/main" id="{3DF97F0F-E9E7-489C-9BA9-D800A8755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440812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中文系统架构：本地证据与受控协作">
            <a:extLst xmlns:a="http://schemas.openxmlformats.org/drawingml/2006/main">
              <a:ext uri="{FF2B5EF4-FFF2-40B4-BE49-F238E27FC236}">
                <a16:creationId xmlns:a16="http://schemas.microsoft.com/office/drawing/2014/main" id="{E6A0D51F-9652-492F-AB27-7B34197B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中文系统架构：本地证据与受控协作</a:t>
            </a:r>
          </a:p>
        </p:txBody>
      </p:sp>
      <p:sp>
        <p:nvSpPr>
          <p:cNvPr id="2" name="原件与案卷留在指定本地节点，外部协作使用批准文字">
            <a:extLst xmlns:a="http://schemas.openxmlformats.org/drawingml/2006/main">
              <a:ext uri="{FF2B5EF4-FFF2-40B4-BE49-F238E27FC236}">
                <a16:creationId xmlns:a16="http://schemas.microsoft.com/office/drawing/2014/main" id="{954FDA01-48F3-416B-B683-74FD7228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3825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原件与案卷留在指定本地节点，外部协作使用批准文字</a:t>
            </a:r>
          </a:p>
        </p:txBody>
      </p:sp>
      <p:sp>
        <p:nvSpPr>
          <p:cNvPr id="3" name="本地工作台与DGX Spark边界">
            <a:extLst xmlns:a="http://schemas.openxmlformats.org/drawingml/2006/main">
              <a:ext uri="{FF2B5EF4-FFF2-40B4-BE49-F238E27FC236}">
                <a16:creationId xmlns:a16="http://schemas.microsoft.com/office/drawing/2014/main" id="{5B11533E-80BF-4200-ACE4-018F39FA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838325"/>
            <a:ext cx="8858250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8"/>
          </a:solidFill>
          <a:ln xmlns:a="http://schemas.openxmlformats.org/drawingml/2006/main" w="11430">
            <a:solidFill>
              <a:srgbClr val="C7D5E0"/>
            </a:solidFill>
          </a:ln>
        </p:spPr>
      </p:sp>
      <p:sp>
        <p:nvSpPr>
          <p:cNvPr id="4" name="本地专业工作台与 DGX Spark">
            <a:extLst xmlns:a="http://schemas.openxmlformats.org/drawingml/2006/main">
              <a:ext uri="{FF2B5EF4-FFF2-40B4-BE49-F238E27FC236}">
                <a16:creationId xmlns:a16="http://schemas.microsoft.com/office/drawing/2014/main" id="{B0464E05-14D0-4A5D-A46F-282371E1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990725"/>
            <a:ext cx="815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本地专业工作台与 DGX Spark</a:t>
            </a:r>
          </a:p>
        </p:txBody>
      </p:sp>
      <p:sp>
        <p:nvSpPr>
          <p:cNvPr id="5" name="采集与资料">
            <a:extLst xmlns:a="http://schemas.openxmlformats.org/drawingml/2006/main">
              <a:ext uri="{FF2B5EF4-FFF2-40B4-BE49-F238E27FC236}">
                <a16:creationId xmlns:a16="http://schemas.microsoft.com/office/drawing/2014/main" id="{FBD72102-EF1E-48AB-90D0-7B94D3D4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1809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采集与资料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原图与许可文字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网页与本机桥接</a:t>
            </a:r>
          </a:p>
        </p:txBody>
      </p:sp>
      <p:sp>
        <p:nvSpPr>
          <p:cNvPr id="6" name="版本化案卷">
            <a:extLst xmlns:a="http://schemas.openxmlformats.org/drawingml/2006/main">
              <a:ext uri="{FF2B5EF4-FFF2-40B4-BE49-F238E27FC236}">
                <a16:creationId xmlns:a16="http://schemas.microsoft.com/office/drawing/2014/main" id="{5C70D106-6709-4D7F-A6A1-DD10AE7F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590800"/>
            <a:ext cx="24384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版本化案卷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原件 SHA 与来源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固定资料版本</a:t>
            </a:r>
          </a:p>
        </p:txBody>
      </p:sp>
      <p:sp>
        <p:nvSpPr>
          <p:cNvPr id="7" name="研究 Agent 宿主">
            <a:extLst xmlns:a="http://schemas.openxmlformats.org/drawingml/2006/main">
              <a:ext uri="{FF2B5EF4-FFF2-40B4-BE49-F238E27FC236}">
                <a16:creationId xmlns:a16="http://schemas.microsoft.com/office/drawing/2014/main" id="{F08888B9-4C67-4E37-BF78-A7498E4A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590800"/>
            <a:ext cx="24384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研究 Agent 宿主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注册工具与预算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本轮输入资格</a:t>
            </a:r>
          </a:p>
        </p:txBody>
      </p:sp>
      <p:sp>
        <p:nvSpPr>
          <p:cNvPr id="8" name="复核与证据报告">
            <a:extLst xmlns:a="http://schemas.openxmlformats.org/drawingml/2006/main">
              <a:ext uri="{FF2B5EF4-FFF2-40B4-BE49-F238E27FC236}">
                <a16:creationId xmlns:a16="http://schemas.microsoft.com/office/drawing/2014/main" id="{321864DC-24DC-4F7A-98CF-F704F9CB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590800"/>
            <a:ext cx="23241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复核与证据报告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支持、矛盾与缺口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修订 / 离线交接</a:t>
            </a:r>
          </a:p>
        </p:txBody>
      </p:sp>
      <p:sp>
        <p:nvSpPr>
          <p:cNvPr id="9" name="固定知识与引用">
            <a:extLst xmlns:a="http://schemas.openxmlformats.org/drawingml/2006/main">
              <a:ext uri="{FF2B5EF4-FFF2-40B4-BE49-F238E27FC236}">
                <a16:creationId xmlns:a16="http://schemas.microsoft.com/office/drawing/2014/main" id="{6DE46670-440A-4142-B909-EA3D918B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52925"/>
            <a:ext cx="2438400" cy="1152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固定知识与引用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实际正文读回执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NAT 核对版本与段落</a:t>
            </a:r>
          </a:p>
        </p:txBody>
      </p:sp>
      <p:sp>
        <p:nvSpPr>
          <p:cNvPr id="10" name="方法与本地视觉">
            <a:extLst xmlns:a="http://schemas.openxmlformats.org/drawingml/2006/main">
              <a:ext uri="{FF2B5EF4-FFF2-40B4-BE49-F238E27FC236}">
                <a16:creationId xmlns:a16="http://schemas.microsoft.com/office/drawing/2014/main" id="{7319069D-5E14-4161-9E98-6A677F7C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52925"/>
            <a:ext cx="2438400" cy="1152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方法与本地视觉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7 Skills 渐进加载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8B 视觉 / CUDA</a:t>
            </a:r>
          </a:p>
        </p:txBody>
      </p:sp>
      <p:sp>
        <p:nvSpPr>
          <p:cNvPr id="11" name="独立已部署服务">
            <a:extLst xmlns:a="http://schemas.openxmlformats.org/drawingml/2006/main">
              <a:ext uri="{FF2B5EF4-FFF2-40B4-BE49-F238E27FC236}">
                <a16:creationId xmlns:a16="http://schemas.microsoft.com/office/drawing/2014/main" id="{FCD3EC02-E0E6-447A-B77B-F8443041E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352925"/>
            <a:ext cx="2324100" cy="1152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3335">
            <a:solidFill>
              <a:srgbClr val="AE8B4A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6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独立已部署服务</a:t>
            </a:r>
          </a:p>
          <a:p xmlns:a="http://schemas.openxmlformats.org/drawingml/2006/main">
            <a:pPr algn="l">
              <a:defRPr sz="16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NIM 与 TRT-LLM</a:t>
            </a:r>
          </a:p>
          <a:p xmlns:a="http://schemas.openxmlformats.org/drawingml/2006/main">
            <a:pPr algn="l">
              <a:defRPr sz="16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Embedding + cuVS</a:t>
            </a:r>
          </a:p>
        </p:txBody>
      </p:sp>
      <p:sp>
        <p:nvSpPr>
          <p:cNvPr id="12" name="可选文字审查">
            <a:extLst xmlns:a="http://schemas.openxmlformats.org/drawingml/2006/main">
              <a:ext uri="{FF2B5EF4-FFF2-40B4-BE49-F238E27FC236}">
                <a16:creationId xmlns:a16="http://schemas.microsoft.com/office/drawing/2014/main" id="{B9AFAFD1-AC1C-472E-AEFB-7B7868D4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1809750" cy="1152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可选文字审查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StepFun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step-3.7-flash</a:t>
            </a:r>
          </a:p>
        </p:txBody>
      </p:sp>
      <p:cxnSp>
        <p:nvCxnSpPr>
          <p:cNvPr id="3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419350" y="3186113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3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410200" y="3186113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3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420100" y="3186113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37" name=""/>
          <p:cNvCxnSpPr>
            <a:stCxn xmlns:a="http://schemas.openxmlformats.org/drawingml/2006/main" id="9" idx="0"/>
            <a:endCxn xmlns:a="http://schemas.openxmlformats.org/drawingml/2006/main" id="6" idx="2"/>
          </p:cNvCxnSpPr>
          <p:nvPr/>
        </p:nvCxnSpPr>
        <p:spPr>
          <a:xfrm xmlns:a="http://schemas.openxmlformats.org/drawingml/2006/main" flipV="1">
            <a:off x="4191000" y="3781425"/>
            <a:ext cx="0" cy="571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38" name=""/>
          <p:cNvCxnSpPr>
            <a:stCxn xmlns:a="http://schemas.openxmlformats.org/drawingml/2006/main" id="10" idx="0"/>
            <a:endCxn xmlns:a="http://schemas.openxmlformats.org/drawingml/2006/main" id="7" idx="2"/>
          </p:cNvCxnSpPr>
          <p:nvPr/>
        </p:nvCxnSpPr>
        <p:spPr>
          <a:xfrm xmlns:a="http://schemas.openxmlformats.org/drawingml/2006/main" flipV="1">
            <a:off x="7200900" y="3781425"/>
            <a:ext cx="0" cy="571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39" name=""/>
          <p:cNvCxnSpPr>
            <a:stCxn xmlns:a="http://schemas.openxmlformats.org/drawingml/2006/main" id="6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2419350" y="3186113"/>
            <a:ext cx="552450" cy="17430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45B88"/>
            </a:solidFill>
            <a:prstDash val="dash"/>
            <a:headEnd type="triangle" w="sm" len="sm"/>
            <a:tailEnd type="triangle" w="sm" len="sm"/>
          </a:ln>
        </p:spPr>
      </p:cxnSp>
      <p:sp>
        <p:nvSpPr>
          <p:cNvPr id="19" name="批准文字与审查结果">
            <a:extLst xmlns:a="http://schemas.openxmlformats.org/drawingml/2006/main">
              <a:ext uri="{FF2B5EF4-FFF2-40B4-BE49-F238E27FC236}">
                <a16:creationId xmlns:a16="http://schemas.microsoft.com/office/drawing/2014/main" id="{C64E4DC3-52D3-4B1E-BF7D-8A3E11789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381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rPr>
              <a:t>批准文字与审查结果</a:t>
            </a:r>
          </a:p>
        </p:txBody>
      </p:sp>
      <p:sp>
        <p:nvSpPr>
          <p:cNvPr id="20" name="独立服务已实测，主案卷仍沿用视觉与 SQLite 资料路径">
            <a:extLst xmlns:a="http://schemas.openxmlformats.org/drawingml/2006/main">
              <a:ext uri="{FF2B5EF4-FFF2-40B4-BE49-F238E27FC236}">
                <a16:creationId xmlns:a16="http://schemas.microsoft.com/office/drawing/2014/main" id="{1DC4E2CC-D178-471D-9C27-F18A1809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5867400"/>
            <a:ext cx="6705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独立服务已实测，主案卷仍沿用视觉与 SQLite 资料路径</a:t>
            </a:r>
          </a:p>
        </p:txBody>
      </p:sp>
      <p:sp>
        <p:nvSpPr>
          <p:cNvPr id="21" name="06">
            <a:extLst xmlns:a="http://schemas.openxmlformats.org/drawingml/2006/main">
              <a:ext uri="{FF2B5EF4-FFF2-40B4-BE49-F238E27FC236}">
                <a16:creationId xmlns:a16="http://schemas.microsoft.com/office/drawing/2014/main" id="{92945117-F6C8-439B-80A1-C2BB0664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598381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park 的价值：原件、方法与推理共存">
            <a:extLst xmlns:a="http://schemas.openxmlformats.org/drawingml/2006/main">
              <a:ext uri="{FF2B5EF4-FFF2-40B4-BE49-F238E27FC236}">
                <a16:creationId xmlns:a16="http://schemas.microsoft.com/office/drawing/2014/main" id="{CD586D69-2819-41A2-8F35-2A0796F5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Spark 的价值：原件、方法与推理共存</a:t>
            </a:r>
          </a:p>
        </p:txBody>
      </p:sp>
      <p:sp>
        <p:nvSpPr>
          <p:cNvPr id="2" name="固定模型与资料身份，使同一案卷的研究过程可以重放">
            <a:extLst xmlns:a="http://schemas.openxmlformats.org/drawingml/2006/main">
              <a:ext uri="{FF2B5EF4-FFF2-40B4-BE49-F238E27FC236}">
                <a16:creationId xmlns:a16="http://schemas.microsoft.com/office/drawing/2014/main" id="{B29FCFD0-4082-4415-B483-D1E5469AE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5730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固定模型与资料身份，使同一案卷的研究过程可以重放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28650" y="1971675"/>
          <a:ext xmlns:a="http://schemas.openxmlformats.org/drawingml/2006/main" cx="10934700" cy="34575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86000"/>
                <a:gridCol w="4467225"/>
                <a:gridCol w="4181475"/>
              </a:tblGrid>
              <a:tr h="485775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工作</a:t>
                      </a:r>
                    </a:p>
                  </a:txBody>
                  <a:tcPr marL="91440" marR="91440" marT="45720" marB="45720" anchor="ctr">
                    <a:solidFill>
                      <a:srgbClr val="132D49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实际实现</a:t>
                      </a:r>
                    </a:p>
                  </a:txBody>
                  <a:tcPr marL="91440" marR="91440" marT="45720" marB="45720" anchor="ctr">
                    <a:solidFill>
                      <a:srgbClr val="132D49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接入位置</a:t>
                      </a:r>
                    </a:p>
                  </a:txBody>
                  <a:tcPr marL="91440" marR="91440" marT="45720" marB="45720" anchor="ctr">
                    <a:solidFill>
                      <a:srgbClr val="132D49"/>
                    </a:solidFill>
                  </a:tcPr>
                </a:tc>
              </a:tr>
              <a:tr h="7429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多图与区域研究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Qwen3-VL-8B</a:t>
                      </a:r>
                    </a:p>
                    <a:p>
                      <a:r>
                        <a:rPr sz="187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PyTorch / BF16 / CUDA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案卷主视觉流程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领域方法与引用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 个 Agent Skills</a:t>
                      </a:r>
                    </a:p>
                    <a:p>
                      <a:r>
                        <a:rPr sz="187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NeMo Agent Toolkit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方法执行与引用身份核查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公开文字归纳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原厂 NIM / Qwen3-4B</a:t>
                      </a:r>
                    </a:p>
                    <a:p>
                      <a:r>
                        <a:rPr sz="187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TensorRT-LLM / Qwen3-4B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已部署独立文字端点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语义资料检索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官方 Embedding 1B v2</a:t>
                      </a:r>
                    </a:p>
                    <a:p>
                      <a:r>
                        <a:rPr sz="187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cuVS CUDA 索引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独立检索已实测</a:t>
                      </a:r>
                    </a:p>
                    <a:p>
                      <a:r>
                        <a:rPr sz="187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主案卷仍使用 SQLite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NIM 与 TensorRT-LLM 均完成公开陶瓷文字请求及绑定 CUDA 核验">
            <a:extLst xmlns:a="http://schemas.openxmlformats.org/drawingml/2006/main">
              <a:ext uri="{FF2B5EF4-FFF2-40B4-BE49-F238E27FC236}">
                <a16:creationId xmlns:a16="http://schemas.microsoft.com/office/drawing/2014/main" id="{977404E8-4982-4322-B04B-9D02CBD3B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340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rPr>
              <a:t>NIM 与 TensorRT-LLM 均完成公开陶瓷文字请求及绑定 CUDA 核验</a:t>
            </a:r>
          </a:p>
        </p:txBody>
      </p:sp>
      <p:sp>
        <p:nvSpPr>
          <p:cNvPr id="5" name="独立服务的真实运行与专业质量分别验证，文字输出仍需复核">
            <a:extLst xmlns:a="http://schemas.openxmlformats.org/drawingml/2006/main">
              <a:ext uri="{FF2B5EF4-FFF2-40B4-BE49-F238E27FC236}">
                <a16:creationId xmlns:a16="http://schemas.microsoft.com/office/drawing/2014/main" id="{F77BAAD9-FD88-4480-9BFF-9903B7063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53150"/>
            <a:ext cx="10525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独立服务的真实运行与专业质量分别验证，文字输出仍需复核</a:t>
            </a:r>
          </a:p>
        </p:txBody>
      </p:sp>
      <p:sp>
        <p:nvSpPr>
          <p:cNvPr id="6" name="07">
            <a:extLst xmlns:a="http://schemas.openxmlformats.org/drawingml/2006/main">
              <a:ext uri="{FF2B5EF4-FFF2-40B4-BE49-F238E27FC236}">
                <a16:creationId xmlns:a16="http://schemas.microsoft.com/office/drawing/2014/main" id="{1CEB63BA-4B7E-4A42-B4F4-D136A199B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634793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六维矛盾筛查：先安排复核工作">
            <a:extLst xmlns:a="http://schemas.openxmlformats.org/drawingml/2006/main">
              <a:ext uri="{FF2B5EF4-FFF2-40B4-BE49-F238E27FC236}">
                <a16:creationId xmlns:a16="http://schemas.microsoft.com/office/drawing/2014/main" id="{6BA1095C-522C-4DEC-AC8A-DA5892AF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六维矛盾筛查：先安排复核工作</a:t>
            </a:r>
          </a:p>
        </p:txBody>
      </p:sp>
      <p:sp>
        <p:nvSpPr>
          <p:cNvPr id="2" name="本地规则比较已保存记载，每个提示都给出下一项补证">
            <a:extLst xmlns:a="http://schemas.openxmlformats.org/drawingml/2006/main">
              <a:ext uri="{FF2B5EF4-FFF2-40B4-BE49-F238E27FC236}">
                <a16:creationId xmlns:a16="http://schemas.microsoft.com/office/drawing/2014/main" id="{FB54F757-4A3B-49BA-A60A-D90ADE6C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4777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本地规则比较已保存记载，每个提示都给出下一项补证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45bde7b14949dc"/>
          <a:srcRect xmlns:a="http://schemas.openxmlformats.org/drawingml/2006/main" l="16670" t="11900" r="19440" b="57500"/>
          <a:stretch xmlns:a="http://schemas.openxmlformats.org/drawingml/2006/main"/>
        </p:blipFill>
        <p:spPr>
          <a:xfrm xmlns:a="http://schemas.openxmlformats.org/drawingml/2006/main">
            <a:off x="628650" y="1885950"/>
            <a:ext cx="7124700" cy="2952750"/>
          </a:xfrm>
          <a:prstGeom xmlns:a="http://schemas.openxmlformats.org/drawingml/2006/main" prst="rect">
            <a:avLst/>
          </a:prstGeom>
        </p:spPr>
      </p:pic>
      <p:graphicFrame>
        <p:nvGraphicFramePr>
          <p:cNvPr id="13" name=""/>
          <p:cNvGraphicFramePr/>
          <p:nvPr/>
        </p:nvGraphicFramePr>
        <p:xfrm>
          <a:off xmlns:a="http://schemas.openxmlformats.org/drawingml/2006/main" x="8172450" y="1885950"/>
          <a:ext xmlns:a="http://schemas.openxmlformats.org/drawingml/2006/main" cx="3314700" cy="35433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66950"/>
                <a:gridCol w="1047750"/>
              </a:tblGrid>
              <a:tr h="41910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维度</a:t>
                      </a:r>
                    </a:p>
                  </a:txBody>
                  <a:tcPr marL="91440" marR="91440" marT="45720" marB="45720" anchor="ctr">
                    <a:solidFill>
                      <a:srgbClr val="132D49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权重</a:t>
                      </a:r>
                    </a:p>
                  </a:txBody>
                  <a:tcPr marL="91440" marR="91440" marT="45720" marB="45720" anchor="ctr">
                    <a:solidFill>
                      <a:srgbClr val="132D49"/>
                    </a:solidFill>
                  </a:tcPr>
                </a:tc>
              </a:tr>
              <a:tr h="4381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制作时期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窑口归属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装饰风格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来源对应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状况与修复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采集完整性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32D49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合计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32D49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矛盾＝冲突权重">
            <a:extLst xmlns:a="http://schemas.openxmlformats.org/drawingml/2006/main">
              <a:ext uri="{FF2B5EF4-FFF2-40B4-BE49-F238E27FC236}">
                <a16:creationId xmlns:a16="http://schemas.microsoft.com/office/drawing/2014/main" id="{AC0D2DB7-2261-4D87-AD77-30DE195EB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67300"/>
            <a:ext cx="7124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矛盾＝冲突权重</a:t>
            </a:r>
          </a:p>
        </p:txBody>
      </p:sp>
      <p:sp>
        <p:nvSpPr>
          <p:cNvPr id="6" name="复核优先＝冲突权重 + 0.5 × 未知权重">
            <a:extLst xmlns:a="http://schemas.openxmlformats.org/drawingml/2006/main">
              <a:ext uri="{FF2B5EF4-FFF2-40B4-BE49-F238E27FC236}">
                <a16:creationId xmlns:a16="http://schemas.microsoft.com/office/drawing/2014/main" id="{53F5792A-0766-4359-AFF1-7917ADD3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95925"/>
            <a:ext cx="7124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C33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C334B"/>
                </a:solidFill>
                <a:latin typeface="Hiragino Sans GB"/>
                <a:ea typeface="Hiragino Sans GB"/>
                <a:cs typeface="Hiragino Sans GB"/>
              </a:rPr>
              <a:t>复核优先＝冲突权重 + 0.5 × 未知权重</a:t>
            </a:r>
          </a:p>
        </p:txBody>
      </p:sp>
      <p:sp>
        <p:nvSpPr>
          <p:cNvPr id="7" name="覆盖＝已评价权重 / 100&#10;未知状态单列">
            <a:extLst xmlns:a="http://schemas.openxmlformats.org/drawingml/2006/main">
              <a:ext uri="{FF2B5EF4-FFF2-40B4-BE49-F238E27FC236}">
                <a16:creationId xmlns:a16="http://schemas.microsoft.com/office/drawing/2014/main" id="{88E8D221-9D9D-4E89-9F0B-CDAA0A04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38800"/>
            <a:ext cx="331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覆盖＝已评价权重 / 100</a:t>
            </a:r>
          </a:p>
          <a:p xmlns:a="http://schemas.openxmlformats.org/drawingml/2006/main">
            <a:pPr algn="l">
              <a:defRPr sz="17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未知状态单列</a:t>
            </a:r>
          </a:p>
        </p:txBody>
      </p:sp>
      <p:sp>
        <p:nvSpPr>
          <p:cNvPr id="8" name="指数用于工作排序，非真品率或置信度。图中高度矛盾来自明确标记的合成协议练习">
            <a:extLst xmlns:a="http://schemas.openxmlformats.org/drawingml/2006/main">
              <a:ext uri="{FF2B5EF4-FFF2-40B4-BE49-F238E27FC236}">
                <a16:creationId xmlns:a16="http://schemas.microsoft.com/office/drawing/2014/main" id="{FFD87B27-7B00-44AD-8FE4-6A20B4AF4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34100"/>
            <a:ext cx="10858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指数用于工作排序，非真品率或置信度。图中高度矛盾来自明确标记的合成协议练习</a:t>
            </a:r>
          </a:p>
        </p:txBody>
      </p:sp>
      <p:sp>
        <p:nvSpPr>
          <p:cNvPr id="9" name="08">
            <a:extLst xmlns:a="http://schemas.openxmlformats.org/drawingml/2006/main">
              <a:ext uri="{FF2B5EF4-FFF2-40B4-BE49-F238E27FC236}">
                <a16:creationId xmlns:a16="http://schemas.microsoft.com/office/drawing/2014/main" id="{6FDA111E-199C-470D-95AA-1ADD97F4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916683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证据缺口决定下一项拍摄">
            <a:extLst xmlns:a="http://schemas.openxmlformats.org/drawingml/2006/main">
              <a:ext uri="{FF2B5EF4-FFF2-40B4-BE49-F238E27FC236}">
                <a16:creationId xmlns:a16="http://schemas.microsoft.com/office/drawing/2014/main" id="{1F250FB3-F4EE-4D78-817B-5586D1517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证据缺口决定下一项拍摄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9cc0587bae4a8e"/>
          <a:stretch xmlns:a="http://schemas.openxmlformats.org/drawingml/2006/main"/>
        </p:blipFill>
        <p:spPr>
          <a:xfrm xmlns:a="http://schemas.openxmlformats.org/drawingml/2006/main">
            <a:off x="911225" y="1552575"/>
            <a:ext cx="2730500" cy="4095750"/>
          </a:xfrm>
          <a:prstGeom xmlns:a="http://schemas.openxmlformats.org/drawingml/2006/main" prst="rect">
            <a:avLst/>
          </a:prstGeom>
        </p:spPr>
      </p:pic>
      <p:sp>
        <p:nvSpPr>
          <p:cNvPr id="3" name="两张整体图还留下什么？">
            <a:extLst xmlns:a="http://schemas.openxmlformats.org/drawingml/2006/main">
              <a:ext uri="{FF2B5EF4-FFF2-40B4-BE49-F238E27FC236}">
                <a16:creationId xmlns:a16="http://schemas.microsoft.com/office/drawing/2014/main" id="{7DEF5900-D667-419F-9F03-45F31AA29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1628775"/>
            <a:ext cx="702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两张整体图还留下什么？</a:t>
            </a:r>
          </a:p>
        </p:txBody>
      </p:sp>
      <p:sp>
        <p:nvSpPr>
          <p:cNvPr id="4" name="底足、款识与修复细节需要对应照片或实物检查">
            <a:extLst xmlns:a="http://schemas.openxmlformats.org/drawingml/2006/main">
              <a:ext uri="{FF2B5EF4-FFF2-40B4-BE49-F238E27FC236}">
                <a16:creationId xmlns:a16="http://schemas.microsoft.com/office/drawing/2014/main" id="{7839C11E-1BAE-4984-8149-32B4A2C30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81225"/>
            <a:ext cx="70294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底足、款识与修复细节需要对应照片或实物检查</a:t>
            </a:r>
          </a:p>
        </p:txBody>
      </p:sp>
      <p:sp>
        <p:nvSpPr>
          <p:cNvPr id="5" name="本轮证据缺口">
            <a:extLst xmlns:a="http://schemas.openxmlformats.org/drawingml/2006/main">
              <a:ext uri="{FF2B5EF4-FFF2-40B4-BE49-F238E27FC236}">
                <a16:creationId xmlns:a16="http://schemas.microsoft.com/office/drawing/2014/main" id="{97C1FFAF-E384-420D-BE68-C59F36AF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343275"/>
            <a:ext cx="21050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8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本轮证据缺口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缺失部位与原因</a:t>
            </a:r>
          </a:p>
        </p:txBody>
      </p:sp>
      <p:sp>
        <p:nvSpPr>
          <p:cNvPr id="6" name="下一项补拍">
            <a:extLst xmlns:a="http://schemas.openxmlformats.org/drawingml/2006/main">
              <a:ext uri="{FF2B5EF4-FFF2-40B4-BE49-F238E27FC236}">
                <a16:creationId xmlns:a16="http://schemas.microsoft.com/office/drawing/2014/main" id="{C7BB0D44-F696-42DA-8751-209BC613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343275"/>
            <a:ext cx="21050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8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下一项补拍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视角、条件与尺度</a:t>
            </a:r>
          </a:p>
        </p:txBody>
      </p:sp>
      <p:sp>
        <p:nvSpPr>
          <p:cNvPr id="7" name="新原件与版本">
            <a:extLst xmlns:a="http://schemas.openxmlformats.org/drawingml/2006/main">
              <a:ext uri="{FF2B5EF4-FFF2-40B4-BE49-F238E27FC236}">
                <a16:creationId xmlns:a16="http://schemas.microsoft.com/office/drawing/2014/main" id="{E3D717E0-DCC2-48F7-8280-8E169322F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343275"/>
            <a:ext cx="21050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8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新原件与版本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回查发生的变化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610350" y="3900488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22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039225" y="3900488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sp>
        <p:nvSpPr>
          <p:cNvPr id="10" name="已实现">
            <a:extLst xmlns:a="http://schemas.openxmlformats.org/drawingml/2006/main">
              <a:ext uri="{FF2B5EF4-FFF2-40B4-BE49-F238E27FC236}">
                <a16:creationId xmlns:a16="http://schemas.microsoft.com/office/drawing/2014/main" id="{DB274D94-316E-4619-B9AD-A52EC26F2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530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rPr>
              <a:t>已实现</a:t>
            </a:r>
          </a:p>
        </p:txBody>
      </p:sp>
      <p:sp>
        <p:nvSpPr>
          <p:cNvPr id="11" name="采集桥接、原件 SHA、设备声明与归档回执&#10;公开图的真实 HTTP 往返核验保持原字节一">
            <a:extLst xmlns:a="http://schemas.openxmlformats.org/drawingml/2006/main">
              <a:ext uri="{FF2B5EF4-FFF2-40B4-BE49-F238E27FC236}">
                <a16:creationId xmlns:a16="http://schemas.microsoft.com/office/drawing/2014/main" id="{2570493A-6CF9-414A-9FB8-88A850A3B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953000"/>
            <a:ext cx="5334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采集桥接、原件 SHA、设备声明与归档回执</a:t>
            </a:r>
          </a:p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公开图的真实 HTTP 往返核验保持原字节一致</a:t>
            </a:r>
          </a:p>
        </p:txBody>
      </p:sp>
      <p:sp>
        <p:nvSpPr>
          <p:cNvPr id="12" name="受控光线、多视角、色卡与比例尺进入后续采集研究。眼镜 SDK、桌面箱与标定仍待开发">
            <a:extLst xmlns:a="http://schemas.openxmlformats.org/drawingml/2006/main">
              <a:ext uri="{FF2B5EF4-FFF2-40B4-BE49-F238E27FC236}">
                <a16:creationId xmlns:a16="http://schemas.microsoft.com/office/drawing/2014/main" id="{7EC02EC8-E43C-4B53-ADCB-FE7092417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5790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受控光线、多视角、色卡与比例尺进入后续采集研究。眼镜 SDK、桌面箱与标定仍待开发</a:t>
            </a:r>
          </a:p>
        </p:txBody>
      </p:sp>
      <p:sp>
        <p:nvSpPr>
          <p:cNvPr id="13" name="09">
            <a:extLst xmlns:a="http://schemas.openxmlformats.org/drawingml/2006/main">
              <a:ext uri="{FF2B5EF4-FFF2-40B4-BE49-F238E27FC236}">
                <a16:creationId xmlns:a16="http://schemas.microsoft.com/office/drawing/2014/main" id="{0201EDFF-4636-44AF-BD71-A359FAB3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447061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专业试用的交付与采用方式">
            <a:extLst xmlns:a="http://schemas.openxmlformats.org/drawingml/2006/main">
              <a:ext uri="{FF2B5EF4-FFF2-40B4-BE49-F238E27FC236}">
                <a16:creationId xmlns:a16="http://schemas.microsoft.com/office/drawing/2014/main" id="{0BAE11AA-F611-4028-9380-3D303708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专业试用的交付与采用方式</a:t>
            </a:r>
          </a:p>
        </p:txBody>
      </p:sp>
      <p:sp>
        <p:nvSpPr>
          <p:cNvPr id="2" name="从一件器物的材料整理开始，验证交接是否真正可用">
            <a:extLst xmlns:a="http://schemas.openxmlformats.org/drawingml/2006/main">
              <a:ext uri="{FF2B5EF4-FFF2-40B4-BE49-F238E27FC236}">
                <a16:creationId xmlns:a16="http://schemas.microsoft.com/office/drawing/2014/main" id="{A3CB8F31-2EB2-422C-A62A-429703A4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5730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从一件器物的材料整理开始，验证交接是否真正可用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28650" y="2066925"/>
          <a:ext xmlns:a="http://schemas.openxmlformats.org/drawingml/2006/main" cx="10934700" cy="33242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371725"/>
                <a:gridCol w="5248275"/>
                <a:gridCol w="3314700"/>
              </a:tblGrid>
              <a:tr h="49530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工作入口</a:t>
                      </a:r>
                    </a:p>
                  </a:txBody>
                  <a:tcPr marL="91440" marR="91440" marT="45720" marB="45720" anchor="ctr">
                    <a:solidFill>
                      <a:srgbClr val="132D49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交付的案卷材料</a:t>
                      </a:r>
                    </a:p>
                  </a:txBody>
                  <a:tcPr marL="91440" marR="91440" marT="45720" marB="45720" anchor="ctr">
                    <a:solidFill>
                      <a:srgbClr val="132D49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拟议试用起点</a:t>
                      </a:r>
                    </a:p>
                  </a:txBody>
                  <a:tcPr marL="91440" marR="91440" marT="45720" marB="45720" anchor="ctr">
                    <a:solidFill>
                      <a:srgbClr val="132D49"/>
                    </a:solidFill>
                  </a:tcPr>
                </a:tc>
              </a:tr>
              <a:tr h="942975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博物馆编目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原图、区域观察</a:t>
                      </a:r>
                    </a:p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固定文献与修订档案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先整理一件器物材料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收藏档案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来源事件与对应凭据</a:t>
                      </a:r>
                    </a:p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跨时间状况记录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先核对一条来源链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拍卖图录准备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归属措辞、状况记录</a:t>
                      </a:r>
                    </a:p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待补证与离线交接包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先复核一份描述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商业验证计划">
            <a:extLst xmlns:a="http://schemas.openxmlformats.org/drawingml/2006/main">
              <a:ext uri="{FF2B5EF4-FFF2-40B4-BE49-F238E27FC236}">
                <a16:creationId xmlns:a16="http://schemas.microsoft.com/office/drawing/2014/main" id="{9B0D80B9-07DF-4438-B16C-76241C32C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81675"/>
            <a:ext cx="304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商业验证计划</a:t>
            </a:r>
          </a:p>
        </p:txBody>
      </p:sp>
      <p:sp>
        <p:nvSpPr>
          <p:cNvPr id="5" name="以整理时间、疑点遗漏和复核可用性评价试用，探索本地部署与服务订阅">
            <a:extLst xmlns:a="http://schemas.openxmlformats.org/drawingml/2006/main">
              <a:ext uri="{FF2B5EF4-FFF2-40B4-BE49-F238E27FC236}">
                <a16:creationId xmlns:a16="http://schemas.microsoft.com/office/drawing/2014/main" id="{5D6F3FF1-52C0-42BC-B8BD-1A7EFF38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781675"/>
            <a:ext cx="82486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以整理时间、疑点遗漏和复核可用性评价试用，探索本地部署与服务订阅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6EF7564F-397F-4B04-8FFC-9388DD142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260255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专家反馈驱动方法与模型改进">
            <a:extLst xmlns:a="http://schemas.openxmlformats.org/drawingml/2006/main">
              <a:ext uri="{FF2B5EF4-FFF2-40B4-BE49-F238E27FC236}">
                <a16:creationId xmlns:a16="http://schemas.microsoft.com/office/drawing/2014/main" id="{BD03C1DC-95C5-4DEF-826B-ECE41268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专家反馈驱动方法与模型改进</a:t>
            </a:r>
          </a:p>
        </p:txBody>
      </p:sp>
      <p:sp>
        <p:nvSpPr>
          <p:cNvPr id="2" name="下一阶段先验证观察、引用与理由，再决定训练和产品化">
            <a:extLst xmlns:a="http://schemas.openxmlformats.org/drawingml/2006/main">
              <a:ext uri="{FF2B5EF4-FFF2-40B4-BE49-F238E27FC236}">
                <a16:creationId xmlns:a16="http://schemas.microsoft.com/office/drawing/2014/main" id="{A27B0334-603E-4D3A-B7E0-9F81B0E1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57300"/>
            <a:ext cx="10858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下一阶段先验证观察、引用与理由，再决定训练和产品化</a:t>
            </a:r>
          </a:p>
        </p:txBody>
      </p:sp>
      <p:sp>
        <p:nvSpPr>
          <p:cNvPr id="3" name="授权专家样本">
            <a:extLst xmlns:a="http://schemas.openxmlformats.org/drawingml/2006/main">
              <a:ext uri="{FF2B5EF4-FFF2-40B4-BE49-F238E27FC236}">
                <a16:creationId xmlns:a16="http://schemas.microsoft.com/office/drawing/2014/main" id="{56405B49-7010-482B-9BCF-ADB8BC25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3324225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授权专家样本</a:t>
            </a:r>
          </a:p>
          <a:p xmlns:a="http://schemas.openxmlformats.org/drawingml/2006/main">
            <a:pPr algn="l">
              <a:def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照片与对象身份固定</a:t>
            </a:r>
          </a:p>
          <a:p xmlns:a="http://schemas.openxmlformats.org/drawingml/2006/main">
            <a:pPr algn="l">
              <a:def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专家标签首轮隔离</a:t>
            </a:r>
          </a:p>
        </p:txBody>
      </p:sp>
      <p:sp>
        <p:nvSpPr>
          <p:cNvPr id="4" name="独立评测">
            <a:extLst xmlns:a="http://schemas.openxmlformats.org/drawingml/2006/main">
              <a:ext uri="{FF2B5EF4-FFF2-40B4-BE49-F238E27FC236}">
                <a16:creationId xmlns:a16="http://schemas.microsoft.com/office/drawing/2014/main" id="{3C38A158-D251-4825-BBCD-5DCA02A72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152650"/>
            <a:ext cx="3324225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独立评测</a:t>
            </a:r>
          </a:p>
          <a:p xmlns:a="http://schemas.openxmlformats.org/drawingml/2006/main">
            <a:pPr algn="l">
              <a:def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同模型、资料与预算</a:t>
            </a:r>
          </a:p>
          <a:p xmlns:a="http://schemas.openxmlformats.org/drawingml/2006/main">
            <a:pPr algn="l">
              <a:def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有 / 无 Skills 与盲评</a:t>
            </a:r>
          </a:p>
        </p:txBody>
      </p:sp>
      <p:sp>
        <p:nvSpPr>
          <p:cNvPr id="5" name="审核与保留集回归">
            <a:extLst xmlns:a="http://schemas.openxmlformats.org/drawingml/2006/main">
              <a:ext uri="{FF2B5EF4-FFF2-40B4-BE49-F238E27FC236}">
                <a16:creationId xmlns:a16="http://schemas.microsoft.com/office/drawing/2014/main" id="{434A5781-826E-46F1-B447-C674C4E4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52650"/>
            <a:ext cx="3324225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审核与保留集回归</a:t>
            </a:r>
          </a:p>
          <a:p xmlns:a="http://schemas.openxmlformats.org/drawingml/2006/main">
            <a:pPr algn="l">
              <a:def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修改方法与模型版本</a:t>
            </a:r>
          </a:p>
          <a:p xmlns:a="http://schemas.openxmlformats.org/drawingml/2006/main">
            <a:pPr algn="l">
              <a:def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记录失败和退步</a:t>
            </a:r>
          </a:p>
        </p:txBody>
      </p:sp>
      <p:cxnSp>
        <p:nvCxnSpPr>
          <p:cNvPr id="20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952875" y="2852738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21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753350" y="2852738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10A097-4DFF-4719-B6A5-0BDB2028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05275"/>
            <a:ext cx="109251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5E0"/>
            </a:solidFill>
          </a:ln>
        </p:spPr>
      </p:sp>
      <p:sp>
        <p:nvSpPr>
          <p:cNvPr id="9" name="研究方向">
            <a:extLst xmlns:a="http://schemas.openxmlformats.org/drawingml/2006/main">
              <a:ext uri="{FF2B5EF4-FFF2-40B4-BE49-F238E27FC236}">
                <a16:creationId xmlns:a16="http://schemas.microsoft.com/office/drawing/2014/main" id="{2E7B0175-4B41-4690-A339-3308B2BFC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14850"/>
            <a:ext cx="26003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研究方向</a:t>
            </a:r>
          </a:p>
        </p:txBody>
      </p:sp>
      <p:sp>
        <p:nvSpPr>
          <p:cNvPr id="10" name="受控采集与多时相档案&#10;将专业反馈转成有许可、可审阅的离线材料">
            <a:extLst xmlns:a="http://schemas.openxmlformats.org/drawingml/2006/main">
              <a:ext uri="{FF2B5EF4-FFF2-40B4-BE49-F238E27FC236}">
                <a16:creationId xmlns:a16="http://schemas.microsoft.com/office/drawing/2014/main" id="{C6960EDB-0208-4ADC-956A-A598F27AC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476750"/>
            <a:ext cx="8239125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受控采集与多时相档案</a:t>
            </a:r>
          </a:p>
          <a:p xmlns:a="http://schemas.openxmlformats.org/drawingml/2006/main">
            <a:pPr algn="l">
              <a:def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将专业反馈转成有许可、可审阅的离线材料</a:t>
            </a:r>
          </a:p>
        </p:txBody>
      </p:sp>
      <p:sp>
        <p:nvSpPr>
          <p:cNvPr id="11" name="机构协作与后训练">
            <a:extLst xmlns:a="http://schemas.openxmlformats.org/drawingml/2006/main">
              <a:ext uri="{FF2B5EF4-FFF2-40B4-BE49-F238E27FC236}">
                <a16:creationId xmlns:a16="http://schemas.microsoft.com/office/drawing/2014/main" id="{4BCCFD95-CF70-4FFE-938B-6702B882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29275"/>
            <a:ext cx="26003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机构协作与后训练</a:t>
            </a:r>
          </a:p>
        </p:txBody>
      </p:sp>
      <p:sp>
        <p:nvSpPr>
          <p:cNvPr id="12" name="探索 NVFLARE 联合训练与 NeMo RL，验证后再发布版本">
            <a:extLst xmlns:a="http://schemas.openxmlformats.org/drawingml/2006/main">
              <a:ext uri="{FF2B5EF4-FFF2-40B4-BE49-F238E27FC236}">
                <a16:creationId xmlns:a16="http://schemas.microsoft.com/office/drawing/2014/main" id="{98B698B7-E7A4-45F1-803E-DA883D88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629275"/>
            <a:ext cx="8239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探索 NVFLARE 联合训练与 NeMo RL，验证后再发布版本</a:t>
            </a:r>
          </a:p>
        </p:txBody>
      </p:sp>
      <p:sp>
        <p:nvSpPr>
          <p:cNvPr id="13" name="当前尚未完成独立专家样本评价与真品概率校准">
            <a:extLst xmlns:a="http://schemas.openxmlformats.org/drawingml/2006/main">
              <a:ext uri="{FF2B5EF4-FFF2-40B4-BE49-F238E27FC236}">
                <a16:creationId xmlns:a16="http://schemas.microsoft.com/office/drawing/2014/main" id="{6C3E0415-5EC9-4F20-87E5-8EF3D808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91250"/>
            <a:ext cx="10620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当前尚未完成独立专家样本评价与真品概率校准</a:t>
            </a:r>
          </a:p>
        </p:txBody>
      </p:sp>
      <p:sp>
        <p:nvSpPr>
          <p:cNvPr id="14" name="11">
            <a:extLst xmlns:a="http://schemas.openxmlformats.org/drawingml/2006/main">
              <a:ext uri="{FF2B5EF4-FFF2-40B4-BE49-F238E27FC236}">
                <a16:creationId xmlns:a16="http://schemas.microsoft.com/office/drawing/2014/main" id="{EF459548-9DA6-4967-9CFC-9061FBB5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5920035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32D4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310cf472714266"/>
          <a:srcRect xmlns:a="http://schemas.openxmlformats.org/drawingml/2006/main" l="19353" t="0" r="193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5476875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瓷证">
            <a:extLst xmlns:a="http://schemas.openxmlformats.org/drawingml/2006/main">
              <a:ext uri="{FF2B5EF4-FFF2-40B4-BE49-F238E27FC236}">
                <a16:creationId xmlns:a16="http://schemas.microsoft.com/office/drawing/2014/main" id="{DDB13F9C-7BA4-430A-997B-24F269BB8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295400"/>
            <a:ext cx="52768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57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瓷证</a:t>
            </a:r>
          </a:p>
        </p:txBody>
      </p:sp>
      <p:sp>
        <p:nvSpPr>
          <p:cNvPr id="3" name="可以继续复核的陶瓷案卷">
            <a:extLst xmlns:a="http://schemas.openxmlformats.org/drawingml/2006/main">
              <a:ext uri="{FF2B5EF4-FFF2-40B4-BE49-F238E27FC236}">
                <a16:creationId xmlns:a16="http://schemas.microsoft.com/office/drawing/2014/main" id="{17C59E60-E7FE-48A5-B1E6-DAB1CC8D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57475"/>
            <a:ext cx="535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可以继续复核的陶瓷案卷</a:t>
            </a:r>
          </a:p>
        </p:txBody>
      </p:sp>
      <p:sp>
        <p:nvSpPr>
          <p:cNvPr id="4" name="原件有出处&#10;理由有依据&#10;下一项证据有明确去处">
            <a:extLst xmlns:a="http://schemas.openxmlformats.org/drawingml/2006/main">
              <a:ext uri="{FF2B5EF4-FFF2-40B4-BE49-F238E27FC236}">
                <a16:creationId xmlns:a16="http://schemas.microsoft.com/office/drawing/2014/main" id="{02C8E60A-E24B-4159-B736-FDBE90C1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657600"/>
            <a:ext cx="5305425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rPr>
              <a:t>原件有出处</a:t>
            </a:r>
          </a:p>
          <a:p xmlns:a="http://schemas.openxmlformats.org/drawingml/2006/main">
            <a:pPr algn="l">
              <a:def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rPr>
              <a:t>理由有依据</a:t>
            </a:r>
          </a:p>
          <a:p xmlns:a="http://schemas.openxmlformats.org/drawingml/2006/main">
            <a:pPr algn="l">
              <a:def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rPr>
              <a:t>下一项证据有明确去处</a:t>
            </a:r>
          </a:p>
        </p:txBody>
      </p:sp>
      <p:sp>
        <p:nvSpPr>
          <p:cNvPr id="5" name="完整图文报告书">
            <a:extLst xmlns:a="http://schemas.openxmlformats.org/drawingml/2006/main">
              <a:ext uri="{FF2B5EF4-FFF2-40B4-BE49-F238E27FC236}">
                <a16:creationId xmlns:a16="http://schemas.microsoft.com/office/drawing/2014/main" id="{AE20B4E0-DF8E-4671-B6A8-A12143C1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486400"/>
            <a:ext cx="528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e2667c75ce144d50"/>
              </a:rPr>
              <a:t>完整图文报告书</a:t>
            </a:r>
          </a:p>
        </p:txBody>
      </p:sp>
      <p:sp>
        <p:nvSpPr>
          <p:cNvPr id="6" name="完整教学体验">
            <a:extLst xmlns:a="http://schemas.openxmlformats.org/drawingml/2006/main">
              <a:ext uri="{FF2B5EF4-FFF2-40B4-BE49-F238E27FC236}">
                <a16:creationId xmlns:a16="http://schemas.microsoft.com/office/drawing/2014/main" id="{695CECDB-0635-4E70-A2F3-432A9A7C4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838825"/>
            <a:ext cx="528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f9277ba100dd40d1"/>
              </a:rPr>
              <a:t>完整教学体验</a:t>
            </a:r>
          </a:p>
        </p:txBody>
      </p:sp>
      <p:sp>
        <p:nvSpPr>
          <p:cNvPr id="7" name="公开源码与部署证据">
            <a:extLst xmlns:a="http://schemas.openxmlformats.org/drawingml/2006/main">
              <a:ext uri="{FF2B5EF4-FFF2-40B4-BE49-F238E27FC236}">
                <a16:creationId xmlns:a16="http://schemas.microsoft.com/office/drawing/2014/main" id="{7B1BAD5D-3962-49B5-86D1-BFBE88FB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6191250"/>
            <a:ext cx="528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c8798fec3c2b43b4"/>
              </a:rPr>
              <a:t>公开源码与部署证据</a:t>
            </a:r>
          </a:p>
        </p:txBody>
      </p:sp>
    </p:spTree>
    <p:extLst>
      <p:ext uri="{BB962C8B-B14F-4D97-AF65-F5344CB8AC3E}">
        <p14:creationId xmlns:p14="http://schemas.microsoft.com/office/powerpoint/2010/main" val="1415675762"/>
      </p:ext>
    </p:extLst>
  </p:cSld>
</p:sld>
</file>

<file path=ppt/theme/theme1.xml><?xml version="1.0" encoding="utf-8"?>
<a:theme xmlns:a="http://schemas.openxmlformats.org/drawingml/2006/main" name="ChatGPT">
  <a:themeElements>
    <a:clrScheme name="瓷证">
      <a:dk1>
        <a:srgbClr val="000000"/>
      </a:dk1>
      <a:lt1>
        <a:srgbClr val="FFFFFF"/>
      </a:lt1>
      <a:dk2>
        <a:srgbClr val="132D49"/>
      </a:dk2>
      <a:lt2>
        <a:srgbClr val="EEF4F8"/>
      </a:lt2>
      <a:accent1>
        <a:srgbClr val="245B88"/>
      </a:accent1>
      <a:accent2>
        <a:srgbClr val="132D49"/>
      </a:accent2>
      <a:accent3>
        <a:srgbClr val="AE8B4A"/>
      </a:accent3>
      <a:accent4>
        <a:srgbClr val="5E7181"/>
      </a:accent4>
      <a:accent5>
        <a:srgbClr val="C7D5E0"/>
      </a:accent5>
      <a:accent6>
        <a:srgbClr val="C7D6E2"/>
      </a:accent6>
      <a:hlink>
        <a:srgbClr val="C7D6E2"/>
      </a:hlink>
      <a:folHlink>
        <a:srgbClr val="C7D6E2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瓷证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2026-09-29T00:46:18.2270000Z</dcterms:created>
  <dcterms:modified xsi:type="dcterms:W3CDTF">2026-09-29T00:46:18.2270000Z</dcterms:modified>
</coreProperties>
</file>